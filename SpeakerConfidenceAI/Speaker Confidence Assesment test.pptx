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nek Devanagari SemiExpanded Bold" charset="1" panose="00000000000000000000"/>
      <p:regular r:id="rId27"/>
    </p:embeddedFont>
    <p:embeddedFont>
      <p:font typeface="Poppins" charset="1" panose="00000500000000000000"/>
      <p:regular r:id="rId28"/>
    </p:embeddedFont>
    <p:embeddedFont>
      <p:font typeface="Anek Devanagari SemiExpanded" charset="1" panose="00000000000000000000"/>
      <p:regular r:id="rId29"/>
    </p:embeddedFont>
    <p:embeddedFont>
      <p:font typeface="Poppins Bold" charset="1" panose="00000800000000000000"/>
      <p:regular r:id="rId30"/>
    </p:embeddedFont>
    <p:embeddedFont>
      <p:font typeface="Poppins Light" charset="1" panose="00000400000000000000"/>
      <p:regular r:id="rId31"/>
    </p:embeddedFont>
    <p:embeddedFont>
      <p:font typeface="Cloud Soft" charset="1" panose="02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Relationship Id="rId3" Target="../media/image38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30431" y="843116"/>
            <a:ext cx="12755527" cy="8007885"/>
            <a:chOff x="0" y="0"/>
            <a:chExt cx="29293713" cy="183905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93713" cy="18390512"/>
            </a:xfrm>
            <a:custGeom>
              <a:avLst/>
              <a:gdLst/>
              <a:ahLst/>
              <a:cxnLst/>
              <a:rect r="r" b="b" t="t" l="l"/>
              <a:pathLst>
                <a:path h="18390512" w="29293713">
                  <a:moveTo>
                    <a:pt x="30954" y="0"/>
                  </a:moveTo>
                  <a:lnTo>
                    <a:pt x="29262760" y="0"/>
                  </a:lnTo>
                  <a:cubicBezTo>
                    <a:pt x="29279853" y="0"/>
                    <a:pt x="29293713" y="13859"/>
                    <a:pt x="29293713" y="30954"/>
                  </a:cubicBezTo>
                  <a:lnTo>
                    <a:pt x="29293713" y="18359557"/>
                  </a:lnTo>
                  <a:cubicBezTo>
                    <a:pt x="29293713" y="18367767"/>
                    <a:pt x="29290451" y="18375640"/>
                    <a:pt x="29284647" y="18381445"/>
                  </a:cubicBezTo>
                  <a:cubicBezTo>
                    <a:pt x="29278842" y="18387250"/>
                    <a:pt x="29270967" y="18390512"/>
                    <a:pt x="29262760" y="18390512"/>
                  </a:cubicBezTo>
                  <a:lnTo>
                    <a:pt x="30954" y="18390512"/>
                  </a:lnTo>
                  <a:cubicBezTo>
                    <a:pt x="22745" y="18390512"/>
                    <a:pt x="14871" y="18387250"/>
                    <a:pt x="9066" y="18381445"/>
                  </a:cubicBezTo>
                  <a:cubicBezTo>
                    <a:pt x="3261" y="18375640"/>
                    <a:pt x="0" y="18367767"/>
                    <a:pt x="0" y="18359557"/>
                  </a:cubicBezTo>
                  <a:lnTo>
                    <a:pt x="0" y="30954"/>
                  </a:lnTo>
                  <a:cubicBezTo>
                    <a:pt x="0" y="22745"/>
                    <a:pt x="3261" y="14871"/>
                    <a:pt x="9066" y="9066"/>
                  </a:cubicBezTo>
                  <a:cubicBezTo>
                    <a:pt x="14871" y="3261"/>
                    <a:pt x="22745" y="0"/>
                    <a:pt x="309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293713" cy="18380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171569" y="2570758"/>
            <a:ext cx="7944862" cy="159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0"/>
              </a:lnSpc>
            </a:pPr>
            <a:r>
              <a:rPr lang="en-US" b="true" sz="5933">
                <a:solidFill>
                  <a:srgbClr val="000000"/>
                </a:solidFill>
                <a:latin typeface="Anek Devanagari SemiExpanded Bold"/>
                <a:ea typeface="Anek Devanagari SemiExpanded Bold"/>
                <a:cs typeface="Anek Devanagari SemiExpanded Bold"/>
                <a:sym typeface="Anek Devanagari SemiExpanded Bold"/>
              </a:rPr>
              <a:t>Speaker Confidence Assesment - Text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75472" y="1570821"/>
            <a:ext cx="6265444" cy="618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Machine Learning - 22AIE213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533483" y="8072534"/>
            <a:ext cx="8749422" cy="1185766"/>
            <a:chOff x="0" y="0"/>
            <a:chExt cx="20093490" cy="27231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093490" cy="2723171"/>
            </a:xfrm>
            <a:custGeom>
              <a:avLst/>
              <a:gdLst/>
              <a:ahLst/>
              <a:cxnLst/>
              <a:rect r="r" b="b" t="t" l="l"/>
              <a:pathLst>
                <a:path h="2723171" w="20093490">
                  <a:moveTo>
                    <a:pt x="45127" y="0"/>
                  </a:moveTo>
                  <a:lnTo>
                    <a:pt x="20048362" y="0"/>
                  </a:lnTo>
                  <a:cubicBezTo>
                    <a:pt x="20073286" y="0"/>
                    <a:pt x="20093490" y="20204"/>
                    <a:pt x="20093490" y="45127"/>
                  </a:cubicBezTo>
                  <a:lnTo>
                    <a:pt x="20093490" y="2678044"/>
                  </a:lnTo>
                  <a:cubicBezTo>
                    <a:pt x="20093490" y="2702967"/>
                    <a:pt x="20073286" y="2723171"/>
                    <a:pt x="20048362" y="2723171"/>
                  </a:cubicBezTo>
                  <a:lnTo>
                    <a:pt x="45127" y="2723171"/>
                  </a:lnTo>
                  <a:cubicBezTo>
                    <a:pt x="20204" y="2723171"/>
                    <a:pt x="0" y="2702967"/>
                    <a:pt x="0" y="2678044"/>
                  </a:cubicBezTo>
                  <a:lnTo>
                    <a:pt x="0" y="45127"/>
                  </a:lnTo>
                  <a:cubicBezTo>
                    <a:pt x="0" y="20204"/>
                    <a:pt x="20204" y="0"/>
                    <a:pt x="45127" y="0"/>
                  </a:cubicBezTo>
                  <a:close/>
                </a:path>
              </a:pathLst>
            </a:custGeom>
            <a:solidFill>
              <a:srgbClr val="A6D9F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0093490" cy="2789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956"/>
                </a:lnSpc>
                <a:spcBef>
                  <a:spcPct val="0"/>
                </a:spcBef>
              </a:pPr>
              <a:r>
                <a:rPr lang="en-US" sz="3540">
                  <a:solidFill>
                    <a:srgbClr val="000000"/>
                  </a:solidFill>
                  <a:latin typeface="Anek Devanagari SemiExpanded"/>
                  <a:ea typeface="Anek Devanagari SemiExpanded"/>
                  <a:cs typeface="Anek Devanagari SemiExpanded"/>
                  <a:sym typeface="Anek Devanagari SemiExpanded"/>
                </a:rPr>
                <a:t>Amrita Vishwa Vidyapeetham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482930" y="3575018"/>
            <a:ext cx="4610597" cy="4793626"/>
            <a:chOff x="0" y="0"/>
            <a:chExt cx="6147462" cy="63915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47462" cy="6391502"/>
            </a:xfrm>
            <a:custGeom>
              <a:avLst/>
              <a:gdLst/>
              <a:ahLst/>
              <a:cxnLst/>
              <a:rect r="r" b="b" t="t" l="l"/>
              <a:pathLst>
                <a:path h="6391502" w="6147462">
                  <a:moveTo>
                    <a:pt x="0" y="0"/>
                  </a:moveTo>
                  <a:lnTo>
                    <a:pt x="6147462" y="0"/>
                  </a:lnTo>
                  <a:lnTo>
                    <a:pt x="6147462" y="6391502"/>
                  </a:lnTo>
                  <a:lnTo>
                    <a:pt x="0" y="6391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4149" y="4157694"/>
              <a:ext cx="1089720" cy="1390594"/>
            </a:xfrm>
            <a:custGeom>
              <a:avLst/>
              <a:gdLst/>
              <a:ahLst/>
              <a:cxnLst/>
              <a:rect r="r" b="b" t="t" l="l"/>
              <a:pathLst>
                <a:path h="1390594" w="1089720">
                  <a:moveTo>
                    <a:pt x="0" y="0"/>
                  </a:moveTo>
                  <a:lnTo>
                    <a:pt x="1089720" y="0"/>
                  </a:lnTo>
                  <a:lnTo>
                    <a:pt x="1089720" y="1390595"/>
                  </a:lnTo>
                  <a:lnTo>
                    <a:pt x="0" y="1390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658075" y="1501701"/>
            <a:ext cx="4316787" cy="3641799"/>
          </a:xfrm>
          <a:custGeom>
            <a:avLst/>
            <a:gdLst/>
            <a:ahLst/>
            <a:cxnLst/>
            <a:rect r="r" b="b" t="t" l="l"/>
            <a:pathLst>
              <a:path h="3641799" w="4316787">
                <a:moveTo>
                  <a:pt x="0" y="0"/>
                </a:moveTo>
                <a:lnTo>
                  <a:pt x="4316787" y="0"/>
                </a:lnTo>
                <a:lnTo>
                  <a:pt x="4316787" y="3641799"/>
                </a:lnTo>
                <a:lnTo>
                  <a:pt x="0" y="3641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677403" y="498875"/>
            <a:ext cx="1008114" cy="1690436"/>
          </a:xfrm>
          <a:custGeom>
            <a:avLst/>
            <a:gdLst/>
            <a:ahLst/>
            <a:cxnLst/>
            <a:rect r="r" b="b" t="t" l="l"/>
            <a:pathLst>
              <a:path h="1690436" w="1008114">
                <a:moveTo>
                  <a:pt x="0" y="0"/>
                </a:moveTo>
                <a:lnTo>
                  <a:pt x="1008115" y="0"/>
                </a:lnTo>
                <a:lnTo>
                  <a:pt x="1008115" y="1690436"/>
                </a:lnTo>
                <a:lnTo>
                  <a:pt x="0" y="16904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422814" y="6706635"/>
            <a:ext cx="1161009" cy="1106587"/>
            <a:chOff x="0" y="0"/>
            <a:chExt cx="812800" cy="774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228600" y="276225"/>
              <a:ext cx="3556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126455" y="5092039"/>
            <a:ext cx="6265444" cy="216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 Hemalatha Reddy(AIE24018)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 Parameshwar Reddy(AIE24008)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Jagan sai Kumar(AIE24023)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08194" y="5101564"/>
            <a:ext cx="6265444" cy="164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Guided by:</a:t>
            </a:r>
          </a:p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Dr. Peeta Basa Pati</a:t>
            </a:r>
          </a:p>
          <a:p>
            <a:pPr algn="ctr">
              <a:lnSpc>
                <a:spcPts val="43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93037"/>
            <a:ext cx="7919055" cy="6365263"/>
            <a:chOff x="0" y="0"/>
            <a:chExt cx="18186511" cy="146181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86512" cy="14618148"/>
            </a:xfrm>
            <a:custGeom>
              <a:avLst/>
              <a:gdLst/>
              <a:ahLst/>
              <a:cxnLst/>
              <a:rect r="r" b="b" t="t" l="l"/>
              <a:pathLst>
                <a:path h="14618148" w="18186512">
                  <a:moveTo>
                    <a:pt x="49859" y="0"/>
                  </a:moveTo>
                  <a:lnTo>
                    <a:pt x="18136653" y="0"/>
                  </a:lnTo>
                  <a:cubicBezTo>
                    <a:pt x="18164189" y="0"/>
                    <a:pt x="18186512" y="22323"/>
                    <a:pt x="18186512" y="49859"/>
                  </a:cubicBezTo>
                  <a:lnTo>
                    <a:pt x="18186512" y="14568289"/>
                  </a:lnTo>
                  <a:cubicBezTo>
                    <a:pt x="18186512" y="14595825"/>
                    <a:pt x="18164189" y="14618148"/>
                    <a:pt x="18136653" y="14618148"/>
                  </a:cubicBezTo>
                  <a:lnTo>
                    <a:pt x="49859" y="14618148"/>
                  </a:lnTo>
                  <a:cubicBezTo>
                    <a:pt x="22323" y="14618148"/>
                    <a:pt x="0" y="14595825"/>
                    <a:pt x="0" y="14568289"/>
                  </a:cubicBezTo>
                  <a:lnTo>
                    <a:pt x="0" y="49859"/>
                  </a:lnTo>
                  <a:cubicBezTo>
                    <a:pt x="0" y="22323"/>
                    <a:pt x="22323" y="0"/>
                    <a:pt x="4985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8186511" cy="14608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881715"/>
            <a:ext cx="7919055" cy="1542953"/>
            <a:chOff x="0" y="0"/>
            <a:chExt cx="18186511" cy="35434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86512" cy="3543469"/>
            </a:xfrm>
            <a:custGeom>
              <a:avLst/>
              <a:gdLst/>
              <a:ahLst/>
              <a:cxnLst/>
              <a:rect r="r" b="b" t="t" l="l"/>
              <a:pathLst>
                <a:path h="3543469" w="18186512">
                  <a:moveTo>
                    <a:pt x="49859" y="0"/>
                  </a:moveTo>
                  <a:lnTo>
                    <a:pt x="18136653" y="0"/>
                  </a:lnTo>
                  <a:cubicBezTo>
                    <a:pt x="18164189" y="0"/>
                    <a:pt x="18186512" y="22323"/>
                    <a:pt x="18186512" y="49859"/>
                  </a:cubicBezTo>
                  <a:lnTo>
                    <a:pt x="18186512" y="3493610"/>
                  </a:lnTo>
                  <a:cubicBezTo>
                    <a:pt x="18186512" y="3521147"/>
                    <a:pt x="18164189" y="3543469"/>
                    <a:pt x="18136653" y="3543469"/>
                  </a:cubicBezTo>
                  <a:lnTo>
                    <a:pt x="49859" y="3543469"/>
                  </a:lnTo>
                  <a:cubicBezTo>
                    <a:pt x="22323" y="3543469"/>
                    <a:pt x="0" y="3521147"/>
                    <a:pt x="0" y="3493610"/>
                  </a:cubicBezTo>
                  <a:lnTo>
                    <a:pt x="0" y="49859"/>
                  </a:lnTo>
                  <a:cubicBezTo>
                    <a:pt x="0" y="22323"/>
                    <a:pt x="22323" y="0"/>
                    <a:pt x="49859" y="0"/>
                  </a:cubicBezTo>
                  <a:close/>
                </a:path>
              </a:pathLst>
            </a:custGeom>
            <a:solidFill>
              <a:srgbClr val="A6D9F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8186511" cy="3533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02613" y="1353335"/>
            <a:ext cx="5652699" cy="63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6"/>
              </a:lnSpc>
              <a:spcBef>
                <a:spcPct val="0"/>
              </a:spcBef>
            </a:pPr>
            <a:r>
              <a:rPr lang="en-US" b="true" sz="3747">
                <a:solidFill>
                  <a:srgbClr val="000000"/>
                </a:solidFill>
                <a:latin typeface="Anek Devanagari SemiExpanded Bold"/>
                <a:ea typeface="Anek Devanagari SemiExpanded Bold"/>
                <a:cs typeface="Anek Devanagari SemiExpanded Bold"/>
                <a:sym typeface="Anek Devanagari SemiExpanded Bold"/>
              </a:rPr>
              <a:t>PROBLEM STATEMENT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99118" y="3349488"/>
            <a:ext cx="6887221" cy="1257300"/>
            <a:chOff x="0" y="0"/>
            <a:chExt cx="9182962" cy="167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417226"/>
              <a:ext cx="841947" cy="841947"/>
            </a:xfrm>
            <a:custGeom>
              <a:avLst/>
              <a:gdLst/>
              <a:ahLst/>
              <a:cxnLst/>
              <a:rect r="r" b="b" t="t" l="l"/>
              <a:pathLst>
                <a:path h="841947" w="841947">
                  <a:moveTo>
                    <a:pt x="0" y="0"/>
                  </a:moveTo>
                  <a:lnTo>
                    <a:pt x="841947" y="0"/>
                  </a:lnTo>
                  <a:lnTo>
                    <a:pt x="841947" y="841948"/>
                  </a:lnTo>
                  <a:lnTo>
                    <a:pt x="0" y="841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195694" y="-28575"/>
              <a:ext cx="7987267" cy="1704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Difficulty in measuring speaker confidence during communication.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99118" y="5025888"/>
            <a:ext cx="6887221" cy="859748"/>
            <a:chOff x="0" y="0"/>
            <a:chExt cx="9182962" cy="11463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1947" cy="841947"/>
            </a:xfrm>
            <a:custGeom>
              <a:avLst/>
              <a:gdLst/>
              <a:ahLst/>
              <a:cxnLst/>
              <a:rect r="r" b="b" t="t" l="l"/>
              <a:pathLst>
                <a:path h="841947" w="841947">
                  <a:moveTo>
                    <a:pt x="0" y="0"/>
                  </a:moveTo>
                  <a:lnTo>
                    <a:pt x="841947" y="0"/>
                  </a:lnTo>
                  <a:lnTo>
                    <a:pt x="841947" y="841947"/>
                  </a:lnTo>
                  <a:lnTo>
                    <a:pt x="0" y="841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195694" y="155"/>
              <a:ext cx="7987267" cy="1146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Existing systems depend heavily on audio/video processing.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99118" y="6300350"/>
            <a:ext cx="6887221" cy="838068"/>
            <a:chOff x="0" y="0"/>
            <a:chExt cx="9182962" cy="11174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37738"/>
              <a:ext cx="841947" cy="841947"/>
            </a:xfrm>
            <a:custGeom>
              <a:avLst/>
              <a:gdLst/>
              <a:ahLst/>
              <a:cxnLst/>
              <a:rect r="r" b="b" t="t" l="l"/>
              <a:pathLst>
                <a:path h="841947" w="841947">
                  <a:moveTo>
                    <a:pt x="0" y="0"/>
                  </a:moveTo>
                  <a:lnTo>
                    <a:pt x="841947" y="0"/>
                  </a:lnTo>
                  <a:lnTo>
                    <a:pt x="841947" y="841947"/>
                  </a:lnTo>
                  <a:lnTo>
                    <a:pt x="0" y="841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195694" y="-28663"/>
              <a:ext cx="7987267" cy="1146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Current solutions lack clear and explainable feedback.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99118" y="7578029"/>
            <a:ext cx="6887221" cy="838068"/>
            <a:chOff x="0" y="0"/>
            <a:chExt cx="9182962" cy="11174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137738"/>
              <a:ext cx="841947" cy="841947"/>
            </a:xfrm>
            <a:custGeom>
              <a:avLst/>
              <a:gdLst/>
              <a:ahLst/>
              <a:cxnLst/>
              <a:rect r="r" b="b" t="t" l="l"/>
              <a:pathLst>
                <a:path h="841947" w="841947">
                  <a:moveTo>
                    <a:pt x="0" y="0"/>
                  </a:moveTo>
                  <a:lnTo>
                    <a:pt x="841947" y="0"/>
                  </a:lnTo>
                  <a:lnTo>
                    <a:pt x="841947" y="841947"/>
                  </a:lnTo>
                  <a:lnTo>
                    <a:pt x="0" y="841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195694" y="-28663"/>
              <a:ext cx="7987267" cy="1146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Need for a lightweight AI-based confidence analysis system.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712624" y="602442"/>
            <a:ext cx="1773716" cy="1852445"/>
          </a:xfrm>
          <a:custGeom>
            <a:avLst/>
            <a:gdLst/>
            <a:ahLst/>
            <a:cxnLst/>
            <a:rect r="r" b="b" t="t" l="l"/>
            <a:pathLst>
              <a:path h="1852445" w="1773716">
                <a:moveTo>
                  <a:pt x="0" y="0"/>
                </a:moveTo>
                <a:lnTo>
                  <a:pt x="1773716" y="0"/>
                </a:lnTo>
                <a:lnTo>
                  <a:pt x="1773716" y="1852445"/>
                </a:lnTo>
                <a:lnTo>
                  <a:pt x="0" y="18524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916943" y="1653225"/>
            <a:ext cx="7342357" cy="7605075"/>
            <a:chOff x="0" y="0"/>
            <a:chExt cx="16862095" cy="17465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862095" cy="17465439"/>
            </a:xfrm>
            <a:custGeom>
              <a:avLst/>
              <a:gdLst/>
              <a:ahLst/>
              <a:cxnLst/>
              <a:rect r="r" b="b" t="t" l="l"/>
              <a:pathLst>
                <a:path h="17465439" w="16862095">
                  <a:moveTo>
                    <a:pt x="53775" y="0"/>
                  </a:moveTo>
                  <a:lnTo>
                    <a:pt x="16808320" y="0"/>
                  </a:lnTo>
                  <a:cubicBezTo>
                    <a:pt x="16838019" y="0"/>
                    <a:pt x="16862095" y="24076"/>
                    <a:pt x="16862095" y="53775"/>
                  </a:cubicBezTo>
                  <a:lnTo>
                    <a:pt x="16862095" y="17411664"/>
                  </a:lnTo>
                  <a:cubicBezTo>
                    <a:pt x="16862095" y="17441363"/>
                    <a:pt x="16838019" y="17465439"/>
                    <a:pt x="16808320" y="17465439"/>
                  </a:cubicBezTo>
                  <a:lnTo>
                    <a:pt x="53775" y="17465439"/>
                  </a:lnTo>
                  <a:cubicBezTo>
                    <a:pt x="24076" y="17465439"/>
                    <a:pt x="0" y="17441363"/>
                    <a:pt x="0" y="17411664"/>
                  </a:cubicBezTo>
                  <a:lnTo>
                    <a:pt x="0" y="53775"/>
                  </a:lnTo>
                  <a:cubicBezTo>
                    <a:pt x="0" y="24076"/>
                    <a:pt x="24076" y="0"/>
                    <a:pt x="53775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16862095" cy="17455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00620" y="503313"/>
            <a:ext cx="3375003" cy="2075399"/>
            <a:chOff x="0" y="0"/>
            <a:chExt cx="812800" cy="4998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499817"/>
            </a:xfrm>
            <a:custGeom>
              <a:avLst/>
              <a:gdLst/>
              <a:ahLst/>
              <a:cxnLst/>
              <a:rect r="r" b="b" t="t" l="l"/>
              <a:pathLst>
                <a:path h="499817" w="812800">
                  <a:moveTo>
                    <a:pt x="406400" y="0"/>
                  </a:moveTo>
                  <a:cubicBezTo>
                    <a:pt x="181951" y="0"/>
                    <a:pt x="0" y="111888"/>
                    <a:pt x="0" y="249909"/>
                  </a:cubicBezTo>
                  <a:cubicBezTo>
                    <a:pt x="0" y="387929"/>
                    <a:pt x="181951" y="499817"/>
                    <a:pt x="406400" y="499817"/>
                  </a:cubicBezTo>
                  <a:cubicBezTo>
                    <a:pt x="630849" y="499817"/>
                    <a:pt x="812800" y="387929"/>
                    <a:pt x="812800" y="249909"/>
                  </a:cubicBezTo>
                  <a:cubicBezTo>
                    <a:pt x="812800" y="11188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84958"/>
              <a:ext cx="660400" cy="3680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86"/>
                </a:lnSpc>
              </a:pPr>
              <a:r>
                <a:rPr lang="en-US" b="true" sz="4095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SYSTEM</a:t>
              </a:r>
            </a:p>
            <a:p>
              <a:pPr algn="ctr" marL="0" indent="0" lvl="0">
                <a:lnSpc>
                  <a:spcPts val="4362"/>
                </a:lnSpc>
              </a:pPr>
              <a:r>
                <a:rPr lang="en-US" b="true" sz="3895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OVERVIEW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657298" y="2893037"/>
            <a:ext cx="5861646" cy="1362018"/>
            <a:chOff x="0" y="0"/>
            <a:chExt cx="13461567" cy="31279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61567" cy="3127943"/>
            </a:xfrm>
            <a:custGeom>
              <a:avLst/>
              <a:gdLst/>
              <a:ahLst/>
              <a:cxnLst/>
              <a:rect r="r" b="b" t="t" l="l"/>
              <a:pathLst>
                <a:path h="3127943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060583"/>
                  </a:lnTo>
                  <a:cubicBezTo>
                    <a:pt x="13461567" y="3078448"/>
                    <a:pt x="13454470" y="3095581"/>
                    <a:pt x="13441838" y="3108214"/>
                  </a:cubicBezTo>
                  <a:cubicBezTo>
                    <a:pt x="13429207" y="3120846"/>
                    <a:pt x="13412073" y="3127943"/>
                    <a:pt x="13394207" y="3127943"/>
                  </a:cubicBezTo>
                  <a:lnTo>
                    <a:pt x="67360" y="3127943"/>
                  </a:lnTo>
                  <a:cubicBezTo>
                    <a:pt x="49495" y="3127943"/>
                    <a:pt x="32362" y="3120846"/>
                    <a:pt x="19729" y="3108214"/>
                  </a:cubicBezTo>
                  <a:cubicBezTo>
                    <a:pt x="7097" y="3095581"/>
                    <a:pt x="0" y="3078448"/>
                    <a:pt x="0" y="3060583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3461567" cy="315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 strike="noStrike" u="none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Part 1: Text Input Analysis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657298" y="5089162"/>
            <a:ext cx="5861646" cy="1362018"/>
            <a:chOff x="0" y="0"/>
            <a:chExt cx="13461567" cy="312794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61567" cy="3127943"/>
            </a:xfrm>
            <a:custGeom>
              <a:avLst/>
              <a:gdLst/>
              <a:ahLst/>
              <a:cxnLst/>
              <a:rect r="r" b="b" t="t" l="l"/>
              <a:pathLst>
                <a:path h="3127943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060583"/>
                  </a:lnTo>
                  <a:cubicBezTo>
                    <a:pt x="13461567" y="3078448"/>
                    <a:pt x="13454470" y="3095581"/>
                    <a:pt x="13441838" y="3108214"/>
                  </a:cubicBezTo>
                  <a:cubicBezTo>
                    <a:pt x="13429207" y="3120846"/>
                    <a:pt x="13412073" y="3127943"/>
                    <a:pt x="13394207" y="3127943"/>
                  </a:cubicBezTo>
                  <a:lnTo>
                    <a:pt x="67360" y="3127943"/>
                  </a:lnTo>
                  <a:cubicBezTo>
                    <a:pt x="49495" y="3127943"/>
                    <a:pt x="32362" y="3120846"/>
                    <a:pt x="19729" y="3108214"/>
                  </a:cubicBezTo>
                  <a:cubicBezTo>
                    <a:pt x="7097" y="3095581"/>
                    <a:pt x="0" y="3078448"/>
                    <a:pt x="0" y="3060583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3461567" cy="315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Part 2: AI Confidence Prediction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57298" y="7285286"/>
            <a:ext cx="5861646" cy="1362018"/>
            <a:chOff x="0" y="0"/>
            <a:chExt cx="13461567" cy="312794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461567" cy="3127943"/>
            </a:xfrm>
            <a:custGeom>
              <a:avLst/>
              <a:gdLst/>
              <a:ahLst/>
              <a:cxnLst/>
              <a:rect r="r" b="b" t="t" l="l"/>
              <a:pathLst>
                <a:path h="3127943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060583"/>
                  </a:lnTo>
                  <a:cubicBezTo>
                    <a:pt x="13461567" y="3078448"/>
                    <a:pt x="13454470" y="3095581"/>
                    <a:pt x="13441838" y="3108214"/>
                  </a:cubicBezTo>
                  <a:cubicBezTo>
                    <a:pt x="13429207" y="3120846"/>
                    <a:pt x="13412073" y="3127943"/>
                    <a:pt x="13394207" y="3127943"/>
                  </a:cubicBezTo>
                  <a:lnTo>
                    <a:pt x="67360" y="3127943"/>
                  </a:lnTo>
                  <a:cubicBezTo>
                    <a:pt x="49495" y="3127943"/>
                    <a:pt x="32362" y="3120846"/>
                    <a:pt x="19729" y="3108214"/>
                  </a:cubicBezTo>
                  <a:cubicBezTo>
                    <a:pt x="7097" y="3095581"/>
                    <a:pt x="0" y="3078448"/>
                    <a:pt x="0" y="3060583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3461567" cy="315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Part 3: Visual Analytics &amp; Feedback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3373495" y="3873957"/>
            <a:ext cx="429254" cy="673339"/>
          </a:xfrm>
          <a:custGeom>
            <a:avLst/>
            <a:gdLst/>
            <a:ahLst/>
            <a:cxnLst/>
            <a:rect r="r" b="b" t="t" l="l"/>
            <a:pathLst>
              <a:path h="673339" w="429254">
                <a:moveTo>
                  <a:pt x="0" y="0"/>
                </a:moveTo>
                <a:lnTo>
                  <a:pt x="429253" y="0"/>
                </a:lnTo>
                <a:lnTo>
                  <a:pt x="429253" y="673339"/>
                </a:lnTo>
                <a:lnTo>
                  <a:pt x="0" y="6733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3388284" y="6170910"/>
            <a:ext cx="399674" cy="658146"/>
          </a:xfrm>
          <a:custGeom>
            <a:avLst/>
            <a:gdLst/>
            <a:ahLst/>
            <a:cxnLst/>
            <a:rect r="r" b="b" t="t" l="l"/>
            <a:pathLst>
              <a:path h="658146" w="399674">
                <a:moveTo>
                  <a:pt x="0" y="0"/>
                </a:moveTo>
                <a:lnTo>
                  <a:pt x="399674" y="0"/>
                </a:lnTo>
                <a:lnTo>
                  <a:pt x="399674" y="658146"/>
                </a:lnTo>
                <a:lnTo>
                  <a:pt x="0" y="6581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401566" y="8416097"/>
            <a:ext cx="401182" cy="672713"/>
          </a:xfrm>
          <a:custGeom>
            <a:avLst/>
            <a:gdLst/>
            <a:ahLst/>
            <a:cxnLst/>
            <a:rect r="r" b="b" t="t" l="l"/>
            <a:pathLst>
              <a:path h="672713" w="401182">
                <a:moveTo>
                  <a:pt x="0" y="0"/>
                </a:moveTo>
                <a:lnTo>
                  <a:pt x="401182" y="0"/>
                </a:lnTo>
                <a:lnTo>
                  <a:pt x="401182" y="672713"/>
                </a:lnTo>
                <a:lnTo>
                  <a:pt x="0" y="6727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7703" y="1696290"/>
            <a:ext cx="16012595" cy="6733098"/>
            <a:chOff x="0" y="0"/>
            <a:chExt cx="36773733" cy="154629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773734" cy="15462901"/>
            </a:xfrm>
            <a:custGeom>
              <a:avLst/>
              <a:gdLst/>
              <a:ahLst/>
              <a:cxnLst/>
              <a:rect r="r" b="b" t="t" l="l"/>
              <a:pathLst>
                <a:path h="15462901" w="36773734">
                  <a:moveTo>
                    <a:pt x="24658" y="0"/>
                  </a:moveTo>
                  <a:lnTo>
                    <a:pt x="36749075" y="0"/>
                  </a:lnTo>
                  <a:cubicBezTo>
                    <a:pt x="36762692" y="0"/>
                    <a:pt x="36773734" y="11040"/>
                    <a:pt x="36773734" y="24658"/>
                  </a:cubicBezTo>
                  <a:lnTo>
                    <a:pt x="36773734" y="15438244"/>
                  </a:lnTo>
                  <a:cubicBezTo>
                    <a:pt x="36773734" y="15451861"/>
                    <a:pt x="36762692" y="15462901"/>
                    <a:pt x="36749075" y="15462901"/>
                  </a:cubicBezTo>
                  <a:lnTo>
                    <a:pt x="24658" y="15462901"/>
                  </a:lnTo>
                  <a:cubicBezTo>
                    <a:pt x="11040" y="15462901"/>
                    <a:pt x="0" y="15451861"/>
                    <a:pt x="0" y="15438244"/>
                  </a:cubicBezTo>
                  <a:lnTo>
                    <a:pt x="0" y="24658"/>
                  </a:lnTo>
                  <a:cubicBezTo>
                    <a:pt x="0" y="11040"/>
                    <a:pt x="11040" y="0"/>
                    <a:pt x="246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6773733" cy="15453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89721" y="2575007"/>
            <a:ext cx="11708557" cy="616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Cloud Soft"/>
                <a:ea typeface="Cloud Soft"/>
                <a:cs typeface="Cloud Soft"/>
                <a:sym typeface="Cloud Soft"/>
              </a:rPr>
              <a:t> • Develop an AI-based confidence analysis system</a:t>
            </a:r>
          </a:p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Cloud Soft"/>
                <a:ea typeface="Cloud Soft"/>
                <a:cs typeface="Cloud Soft"/>
                <a:sym typeface="Cloud Soft"/>
              </a:rPr>
              <a:t>• Predict speaker confidence using Machine Learning and NLP</a:t>
            </a:r>
          </a:p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Cloud Soft"/>
                <a:ea typeface="Cloud Soft"/>
                <a:cs typeface="Cloud Soft"/>
                <a:sym typeface="Cloud Soft"/>
              </a:rPr>
              <a:t>• Detect hedge and booster words in text</a:t>
            </a:r>
          </a:p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Cloud Soft"/>
                <a:ea typeface="Cloud Soft"/>
                <a:cs typeface="Cloud Soft"/>
                <a:sym typeface="Cloud Soft"/>
              </a:rPr>
              <a:t>• Provide explainable confidence feedback</a:t>
            </a:r>
          </a:p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Cloud Soft"/>
                <a:ea typeface="Cloud Soft"/>
                <a:cs typeface="Cloud Soft"/>
                <a:sym typeface="Cloud Soft"/>
              </a:rPr>
              <a:t>• Display interactive visual analytics and reports</a:t>
            </a:r>
          </a:p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Cloud Soft"/>
                <a:ea typeface="Cloud Soft"/>
                <a:cs typeface="Cloud Soft"/>
                <a:sym typeface="Cloud Soft"/>
              </a:rPr>
              <a:t>• Create a lightweight and user-friendly web application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7517900" y="1028700"/>
            <a:ext cx="3252199" cy="1335179"/>
            <a:chOff x="0" y="0"/>
            <a:chExt cx="7468840" cy="30663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68840" cy="3066306"/>
            </a:xfrm>
            <a:custGeom>
              <a:avLst/>
              <a:gdLst/>
              <a:ahLst/>
              <a:cxnLst/>
              <a:rect r="r" b="b" t="t" l="l"/>
              <a:pathLst>
                <a:path h="3066306" w="7468840">
                  <a:moveTo>
                    <a:pt x="121406" y="0"/>
                  </a:moveTo>
                  <a:lnTo>
                    <a:pt x="7347434" y="0"/>
                  </a:lnTo>
                  <a:cubicBezTo>
                    <a:pt x="7414485" y="0"/>
                    <a:pt x="7468840" y="54356"/>
                    <a:pt x="7468840" y="121406"/>
                  </a:cubicBezTo>
                  <a:lnTo>
                    <a:pt x="7468840" y="2944900"/>
                  </a:lnTo>
                  <a:cubicBezTo>
                    <a:pt x="7468840" y="3011951"/>
                    <a:pt x="7414485" y="3066306"/>
                    <a:pt x="7347434" y="3066306"/>
                  </a:cubicBezTo>
                  <a:lnTo>
                    <a:pt x="121406" y="3066306"/>
                  </a:lnTo>
                  <a:cubicBezTo>
                    <a:pt x="54356" y="3066306"/>
                    <a:pt x="0" y="3011951"/>
                    <a:pt x="0" y="2944900"/>
                  </a:cubicBezTo>
                  <a:lnTo>
                    <a:pt x="0" y="121406"/>
                  </a:lnTo>
                  <a:cubicBezTo>
                    <a:pt x="0" y="54356"/>
                    <a:pt x="54356" y="0"/>
                    <a:pt x="121406" y="0"/>
                  </a:cubicBezTo>
                  <a:close/>
                </a:path>
              </a:pathLst>
            </a:custGeom>
            <a:solidFill>
              <a:srgbClr val="A6D9F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7468840" cy="3152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380"/>
                </a:lnSpc>
                <a:spcBef>
                  <a:spcPct val="0"/>
                </a:spcBef>
              </a:pPr>
              <a:r>
                <a:rPr lang="en-US" b="true" sz="4557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Objectives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16943" y="2358124"/>
            <a:ext cx="7342357" cy="7605075"/>
            <a:chOff x="0" y="0"/>
            <a:chExt cx="16862095" cy="17465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62095" cy="17465439"/>
            </a:xfrm>
            <a:custGeom>
              <a:avLst/>
              <a:gdLst/>
              <a:ahLst/>
              <a:cxnLst/>
              <a:rect r="r" b="b" t="t" l="l"/>
              <a:pathLst>
                <a:path h="17465439" w="16862095">
                  <a:moveTo>
                    <a:pt x="53775" y="0"/>
                  </a:moveTo>
                  <a:lnTo>
                    <a:pt x="16808320" y="0"/>
                  </a:lnTo>
                  <a:cubicBezTo>
                    <a:pt x="16838019" y="0"/>
                    <a:pt x="16862095" y="24076"/>
                    <a:pt x="16862095" y="53775"/>
                  </a:cubicBezTo>
                  <a:lnTo>
                    <a:pt x="16862095" y="17411664"/>
                  </a:lnTo>
                  <a:cubicBezTo>
                    <a:pt x="16862095" y="17441363"/>
                    <a:pt x="16838019" y="17465439"/>
                    <a:pt x="16808320" y="17465439"/>
                  </a:cubicBezTo>
                  <a:lnTo>
                    <a:pt x="53775" y="17465439"/>
                  </a:lnTo>
                  <a:cubicBezTo>
                    <a:pt x="24076" y="17465439"/>
                    <a:pt x="0" y="17441363"/>
                    <a:pt x="0" y="17411664"/>
                  </a:cubicBezTo>
                  <a:lnTo>
                    <a:pt x="0" y="53775"/>
                  </a:lnTo>
                  <a:cubicBezTo>
                    <a:pt x="0" y="24076"/>
                    <a:pt x="24076" y="0"/>
                    <a:pt x="53775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6862095" cy="17455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32788" y="727002"/>
            <a:ext cx="3375003" cy="2075399"/>
            <a:chOff x="0" y="0"/>
            <a:chExt cx="812800" cy="4998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99817"/>
            </a:xfrm>
            <a:custGeom>
              <a:avLst/>
              <a:gdLst/>
              <a:ahLst/>
              <a:cxnLst/>
              <a:rect r="r" b="b" t="t" l="l"/>
              <a:pathLst>
                <a:path h="499817" w="812800">
                  <a:moveTo>
                    <a:pt x="406400" y="0"/>
                  </a:moveTo>
                  <a:cubicBezTo>
                    <a:pt x="181951" y="0"/>
                    <a:pt x="0" y="111888"/>
                    <a:pt x="0" y="249909"/>
                  </a:cubicBezTo>
                  <a:cubicBezTo>
                    <a:pt x="0" y="387929"/>
                    <a:pt x="181951" y="499817"/>
                    <a:pt x="406400" y="499817"/>
                  </a:cubicBezTo>
                  <a:cubicBezTo>
                    <a:pt x="630849" y="499817"/>
                    <a:pt x="812800" y="387929"/>
                    <a:pt x="812800" y="249909"/>
                  </a:cubicBezTo>
                  <a:cubicBezTo>
                    <a:pt x="812800" y="11188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75433"/>
              <a:ext cx="660400" cy="377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250"/>
                </a:lnSpc>
              </a:pPr>
              <a:r>
                <a:rPr lang="en-US" b="true" sz="3795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PROPOSED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57298" y="2893037"/>
            <a:ext cx="5861646" cy="1362018"/>
            <a:chOff x="0" y="0"/>
            <a:chExt cx="13461567" cy="31279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61567" cy="3127943"/>
            </a:xfrm>
            <a:custGeom>
              <a:avLst/>
              <a:gdLst/>
              <a:ahLst/>
              <a:cxnLst/>
              <a:rect r="r" b="b" t="t" l="l"/>
              <a:pathLst>
                <a:path h="3127943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060583"/>
                  </a:lnTo>
                  <a:cubicBezTo>
                    <a:pt x="13461567" y="3078448"/>
                    <a:pt x="13454470" y="3095581"/>
                    <a:pt x="13441838" y="3108214"/>
                  </a:cubicBezTo>
                  <a:cubicBezTo>
                    <a:pt x="13429207" y="3120846"/>
                    <a:pt x="13412073" y="3127943"/>
                    <a:pt x="13394207" y="3127943"/>
                  </a:cubicBezTo>
                  <a:lnTo>
                    <a:pt x="67360" y="3127943"/>
                  </a:lnTo>
                  <a:cubicBezTo>
                    <a:pt x="49495" y="3127943"/>
                    <a:pt x="32362" y="3120846"/>
                    <a:pt x="19729" y="3108214"/>
                  </a:cubicBezTo>
                  <a:cubicBezTo>
                    <a:pt x="7097" y="3095581"/>
                    <a:pt x="0" y="3078448"/>
                    <a:pt x="0" y="3060583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461567" cy="315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Works directly with text input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57298" y="4672108"/>
            <a:ext cx="5861646" cy="1362018"/>
            <a:chOff x="0" y="0"/>
            <a:chExt cx="13461567" cy="31279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61567" cy="3127943"/>
            </a:xfrm>
            <a:custGeom>
              <a:avLst/>
              <a:gdLst/>
              <a:ahLst/>
              <a:cxnLst/>
              <a:rect r="r" b="b" t="t" l="l"/>
              <a:pathLst>
                <a:path h="3127943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060583"/>
                  </a:lnTo>
                  <a:cubicBezTo>
                    <a:pt x="13461567" y="3078448"/>
                    <a:pt x="13454470" y="3095581"/>
                    <a:pt x="13441838" y="3108214"/>
                  </a:cubicBezTo>
                  <a:cubicBezTo>
                    <a:pt x="13429207" y="3120846"/>
                    <a:pt x="13412073" y="3127943"/>
                    <a:pt x="13394207" y="3127943"/>
                  </a:cubicBezTo>
                  <a:lnTo>
                    <a:pt x="67360" y="3127943"/>
                  </a:lnTo>
                  <a:cubicBezTo>
                    <a:pt x="49495" y="3127943"/>
                    <a:pt x="32362" y="3120846"/>
                    <a:pt x="19729" y="3108214"/>
                  </a:cubicBezTo>
                  <a:cubicBezTo>
                    <a:pt x="7097" y="3095581"/>
                    <a:pt x="0" y="3078448"/>
                    <a:pt x="0" y="3060583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461567" cy="315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Lightweight and efficient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57298" y="6451180"/>
            <a:ext cx="5861646" cy="1362018"/>
            <a:chOff x="0" y="0"/>
            <a:chExt cx="13461567" cy="31279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61567" cy="3127943"/>
            </a:xfrm>
            <a:custGeom>
              <a:avLst/>
              <a:gdLst/>
              <a:ahLst/>
              <a:cxnLst/>
              <a:rect r="r" b="b" t="t" l="l"/>
              <a:pathLst>
                <a:path h="3127943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060583"/>
                  </a:lnTo>
                  <a:cubicBezTo>
                    <a:pt x="13461567" y="3078448"/>
                    <a:pt x="13454470" y="3095581"/>
                    <a:pt x="13441838" y="3108214"/>
                  </a:cubicBezTo>
                  <a:cubicBezTo>
                    <a:pt x="13429207" y="3120846"/>
                    <a:pt x="13412073" y="3127943"/>
                    <a:pt x="13394207" y="3127943"/>
                  </a:cubicBezTo>
                  <a:lnTo>
                    <a:pt x="67360" y="3127943"/>
                  </a:lnTo>
                  <a:cubicBezTo>
                    <a:pt x="49495" y="3127943"/>
                    <a:pt x="32362" y="3120846"/>
                    <a:pt x="19729" y="3108214"/>
                  </a:cubicBezTo>
                  <a:cubicBezTo>
                    <a:pt x="7097" y="3095581"/>
                    <a:pt x="0" y="3078448"/>
                    <a:pt x="0" y="3060583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461567" cy="315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Provides detailed AI insights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9992" y="2358124"/>
            <a:ext cx="7342357" cy="7605075"/>
            <a:chOff x="0" y="0"/>
            <a:chExt cx="16862095" cy="17465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862095" cy="17465439"/>
            </a:xfrm>
            <a:custGeom>
              <a:avLst/>
              <a:gdLst/>
              <a:ahLst/>
              <a:cxnLst/>
              <a:rect r="r" b="b" t="t" l="l"/>
              <a:pathLst>
                <a:path h="17465439" w="16862095">
                  <a:moveTo>
                    <a:pt x="53775" y="0"/>
                  </a:moveTo>
                  <a:lnTo>
                    <a:pt x="16808320" y="0"/>
                  </a:lnTo>
                  <a:cubicBezTo>
                    <a:pt x="16838019" y="0"/>
                    <a:pt x="16862095" y="24076"/>
                    <a:pt x="16862095" y="53775"/>
                  </a:cubicBezTo>
                  <a:lnTo>
                    <a:pt x="16862095" y="17411664"/>
                  </a:lnTo>
                  <a:cubicBezTo>
                    <a:pt x="16862095" y="17441363"/>
                    <a:pt x="16838019" y="17465439"/>
                    <a:pt x="16808320" y="17465439"/>
                  </a:cubicBezTo>
                  <a:lnTo>
                    <a:pt x="53775" y="17465439"/>
                  </a:lnTo>
                  <a:cubicBezTo>
                    <a:pt x="24076" y="17465439"/>
                    <a:pt x="0" y="17441363"/>
                    <a:pt x="0" y="17411664"/>
                  </a:cubicBezTo>
                  <a:lnTo>
                    <a:pt x="0" y="53775"/>
                  </a:lnTo>
                  <a:cubicBezTo>
                    <a:pt x="0" y="24076"/>
                    <a:pt x="24076" y="0"/>
                    <a:pt x="53775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6862095" cy="17455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153670" y="727002"/>
            <a:ext cx="3375003" cy="2075399"/>
            <a:chOff x="0" y="0"/>
            <a:chExt cx="812800" cy="4998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499817"/>
            </a:xfrm>
            <a:custGeom>
              <a:avLst/>
              <a:gdLst/>
              <a:ahLst/>
              <a:cxnLst/>
              <a:rect r="r" b="b" t="t" l="l"/>
              <a:pathLst>
                <a:path h="499817" w="812800">
                  <a:moveTo>
                    <a:pt x="406400" y="0"/>
                  </a:moveTo>
                  <a:cubicBezTo>
                    <a:pt x="181951" y="0"/>
                    <a:pt x="0" y="111888"/>
                    <a:pt x="0" y="249909"/>
                  </a:cubicBezTo>
                  <a:cubicBezTo>
                    <a:pt x="0" y="387929"/>
                    <a:pt x="181951" y="499817"/>
                    <a:pt x="406400" y="499817"/>
                  </a:cubicBezTo>
                  <a:cubicBezTo>
                    <a:pt x="630849" y="499817"/>
                    <a:pt x="812800" y="387929"/>
                    <a:pt x="812800" y="249909"/>
                  </a:cubicBezTo>
                  <a:cubicBezTo>
                    <a:pt x="812800" y="11188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75433"/>
              <a:ext cx="660400" cy="377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250"/>
                </a:lnSpc>
              </a:pPr>
              <a:r>
                <a:rPr lang="en-US" b="true" sz="3795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EXISTING SYSTEM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10348" y="3056792"/>
            <a:ext cx="5861646" cy="1362018"/>
            <a:chOff x="0" y="0"/>
            <a:chExt cx="13461567" cy="31279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61567" cy="3127943"/>
            </a:xfrm>
            <a:custGeom>
              <a:avLst/>
              <a:gdLst/>
              <a:ahLst/>
              <a:cxnLst/>
              <a:rect r="r" b="b" t="t" l="l"/>
              <a:pathLst>
                <a:path h="3127943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060583"/>
                  </a:lnTo>
                  <a:cubicBezTo>
                    <a:pt x="13461567" y="3078448"/>
                    <a:pt x="13454470" y="3095581"/>
                    <a:pt x="13441838" y="3108214"/>
                  </a:cubicBezTo>
                  <a:cubicBezTo>
                    <a:pt x="13429207" y="3120846"/>
                    <a:pt x="13412073" y="3127943"/>
                    <a:pt x="13394207" y="3127943"/>
                  </a:cubicBezTo>
                  <a:lnTo>
                    <a:pt x="67360" y="3127943"/>
                  </a:lnTo>
                  <a:cubicBezTo>
                    <a:pt x="49495" y="3127943"/>
                    <a:pt x="32362" y="3120846"/>
                    <a:pt x="19729" y="3108214"/>
                  </a:cubicBezTo>
                  <a:cubicBezTo>
                    <a:pt x="7097" y="3095581"/>
                    <a:pt x="0" y="3078448"/>
                    <a:pt x="0" y="3060583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3461567" cy="315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Requires audio/video input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10348" y="6451180"/>
            <a:ext cx="5861646" cy="1362018"/>
            <a:chOff x="0" y="0"/>
            <a:chExt cx="13461567" cy="31279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61567" cy="3127943"/>
            </a:xfrm>
            <a:custGeom>
              <a:avLst/>
              <a:gdLst/>
              <a:ahLst/>
              <a:cxnLst/>
              <a:rect r="r" b="b" t="t" l="l"/>
              <a:pathLst>
                <a:path h="3127943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060583"/>
                  </a:lnTo>
                  <a:cubicBezTo>
                    <a:pt x="13461567" y="3078448"/>
                    <a:pt x="13454470" y="3095581"/>
                    <a:pt x="13441838" y="3108214"/>
                  </a:cubicBezTo>
                  <a:cubicBezTo>
                    <a:pt x="13429207" y="3120846"/>
                    <a:pt x="13412073" y="3127943"/>
                    <a:pt x="13394207" y="3127943"/>
                  </a:cubicBezTo>
                  <a:lnTo>
                    <a:pt x="67360" y="3127943"/>
                  </a:lnTo>
                  <a:cubicBezTo>
                    <a:pt x="49495" y="3127943"/>
                    <a:pt x="32362" y="3120846"/>
                    <a:pt x="19729" y="3108214"/>
                  </a:cubicBezTo>
                  <a:cubicBezTo>
                    <a:pt x="7097" y="3095581"/>
                    <a:pt x="0" y="3078448"/>
                    <a:pt x="0" y="3060583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3461567" cy="315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Limited explainable feedback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10348" y="4771235"/>
            <a:ext cx="5861646" cy="1362018"/>
            <a:chOff x="0" y="0"/>
            <a:chExt cx="13461567" cy="31279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61567" cy="3127943"/>
            </a:xfrm>
            <a:custGeom>
              <a:avLst/>
              <a:gdLst/>
              <a:ahLst/>
              <a:cxnLst/>
              <a:rect r="r" b="b" t="t" l="l"/>
              <a:pathLst>
                <a:path h="3127943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060583"/>
                  </a:lnTo>
                  <a:cubicBezTo>
                    <a:pt x="13461567" y="3078448"/>
                    <a:pt x="13454470" y="3095581"/>
                    <a:pt x="13441838" y="3108214"/>
                  </a:cubicBezTo>
                  <a:cubicBezTo>
                    <a:pt x="13429207" y="3120846"/>
                    <a:pt x="13412073" y="3127943"/>
                    <a:pt x="13394207" y="3127943"/>
                  </a:cubicBezTo>
                  <a:lnTo>
                    <a:pt x="67360" y="3127943"/>
                  </a:lnTo>
                  <a:cubicBezTo>
                    <a:pt x="49495" y="3127943"/>
                    <a:pt x="32362" y="3120846"/>
                    <a:pt x="19729" y="3108214"/>
                  </a:cubicBezTo>
                  <a:cubicBezTo>
                    <a:pt x="7097" y="3095581"/>
                    <a:pt x="0" y="3078448"/>
                    <a:pt x="0" y="3060583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3461567" cy="315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Complex and resource-intensive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10348" y="8165622"/>
            <a:ext cx="5861646" cy="1362018"/>
            <a:chOff x="0" y="0"/>
            <a:chExt cx="13461567" cy="31279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61567" cy="3127943"/>
            </a:xfrm>
            <a:custGeom>
              <a:avLst/>
              <a:gdLst/>
              <a:ahLst/>
              <a:cxnLst/>
              <a:rect r="r" b="b" t="t" l="l"/>
              <a:pathLst>
                <a:path h="3127943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060583"/>
                  </a:lnTo>
                  <a:cubicBezTo>
                    <a:pt x="13461567" y="3078448"/>
                    <a:pt x="13454470" y="3095581"/>
                    <a:pt x="13441838" y="3108214"/>
                  </a:cubicBezTo>
                  <a:cubicBezTo>
                    <a:pt x="13429207" y="3120846"/>
                    <a:pt x="13412073" y="3127943"/>
                    <a:pt x="13394207" y="3127943"/>
                  </a:cubicBezTo>
                  <a:lnTo>
                    <a:pt x="67360" y="3127943"/>
                  </a:lnTo>
                  <a:cubicBezTo>
                    <a:pt x="49495" y="3127943"/>
                    <a:pt x="32362" y="3120846"/>
                    <a:pt x="19729" y="3108214"/>
                  </a:cubicBezTo>
                  <a:cubicBezTo>
                    <a:pt x="7097" y="3095581"/>
                    <a:pt x="0" y="3078448"/>
                    <a:pt x="0" y="3060583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3461567" cy="315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Difficult for beginners to use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657298" y="8165622"/>
            <a:ext cx="5861646" cy="1362018"/>
            <a:chOff x="0" y="0"/>
            <a:chExt cx="13461567" cy="31279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61567" cy="3127943"/>
            </a:xfrm>
            <a:custGeom>
              <a:avLst/>
              <a:gdLst/>
              <a:ahLst/>
              <a:cxnLst/>
              <a:rect r="r" b="b" t="t" l="l"/>
              <a:pathLst>
                <a:path h="3127943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060583"/>
                  </a:lnTo>
                  <a:cubicBezTo>
                    <a:pt x="13461567" y="3078448"/>
                    <a:pt x="13454470" y="3095581"/>
                    <a:pt x="13441838" y="3108214"/>
                  </a:cubicBezTo>
                  <a:cubicBezTo>
                    <a:pt x="13429207" y="3120846"/>
                    <a:pt x="13412073" y="3127943"/>
                    <a:pt x="13394207" y="3127943"/>
                  </a:cubicBezTo>
                  <a:lnTo>
                    <a:pt x="67360" y="3127943"/>
                  </a:lnTo>
                  <a:cubicBezTo>
                    <a:pt x="49495" y="3127943"/>
                    <a:pt x="32362" y="3120846"/>
                    <a:pt x="19729" y="3108214"/>
                  </a:cubicBezTo>
                  <a:cubicBezTo>
                    <a:pt x="7097" y="3095581"/>
                    <a:pt x="0" y="3078448"/>
                    <a:pt x="0" y="3060583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3461567" cy="315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User-friendly web interface</a:t>
              </a:r>
            </a:p>
          </p:txBody>
        </p:sp>
      </p:grpSp>
    </p:spTree>
  </p:cSld>
  <p:clrMapOvr>
    <a:masterClrMapping/>
  </p:clrMapOvr>
  <p:transition spd="fast">
    <p:cover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21727" y="477966"/>
            <a:ext cx="8244547" cy="1101469"/>
            <a:chOff x="0" y="0"/>
            <a:chExt cx="18934018" cy="25295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34018" cy="2529578"/>
            </a:xfrm>
            <a:custGeom>
              <a:avLst/>
              <a:gdLst/>
              <a:ahLst/>
              <a:cxnLst/>
              <a:rect r="r" b="b" t="t" l="l"/>
              <a:pathLst>
                <a:path h="2529578" w="18934018">
                  <a:moveTo>
                    <a:pt x="15025" y="0"/>
                  </a:moveTo>
                  <a:lnTo>
                    <a:pt x="18918994" y="0"/>
                  </a:lnTo>
                  <a:cubicBezTo>
                    <a:pt x="18922978" y="0"/>
                    <a:pt x="18926800" y="1583"/>
                    <a:pt x="18929618" y="4401"/>
                  </a:cubicBezTo>
                  <a:cubicBezTo>
                    <a:pt x="18932435" y="7218"/>
                    <a:pt x="18934018" y="11040"/>
                    <a:pt x="18934018" y="15025"/>
                  </a:cubicBezTo>
                  <a:lnTo>
                    <a:pt x="18934018" y="2514554"/>
                  </a:lnTo>
                  <a:cubicBezTo>
                    <a:pt x="18934018" y="2522852"/>
                    <a:pt x="18927291" y="2529578"/>
                    <a:pt x="18918994" y="2529578"/>
                  </a:cubicBezTo>
                  <a:lnTo>
                    <a:pt x="15025" y="2529578"/>
                  </a:lnTo>
                  <a:cubicBezTo>
                    <a:pt x="11040" y="2529578"/>
                    <a:pt x="7218" y="2527996"/>
                    <a:pt x="4401" y="2525178"/>
                  </a:cubicBezTo>
                  <a:cubicBezTo>
                    <a:pt x="1583" y="2522360"/>
                    <a:pt x="0" y="2518539"/>
                    <a:pt x="0" y="2514554"/>
                  </a:cubicBezTo>
                  <a:lnTo>
                    <a:pt x="0" y="15025"/>
                  </a:lnTo>
                  <a:cubicBezTo>
                    <a:pt x="0" y="11040"/>
                    <a:pt x="1583" y="7218"/>
                    <a:pt x="4401" y="4401"/>
                  </a:cubicBezTo>
                  <a:cubicBezTo>
                    <a:pt x="7218" y="1583"/>
                    <a:pt x="11040" y="0"/>
                    <a:pt x="1502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934018" cy="2567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Technology Stack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39123" y="3147785"/>
            <a:ext cx="4809754" cy="1232713"/>
            <a:chOff x="0" y="0"/>
            <a:chExt cx="6413005" cy="16436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55951" y="0"/>
              <a:ext cx="2057053" cy="1643618"/>
            </a:xfrm>
            <a:custGeom>
              <a:avLst/>
              <a:gdLst/>
              <a:ahLst/>
              <a:cxnLst/>
              <a:rect r="r" b="b" t="t" l="l"/>
              <a:pathLst>
                <a:path h="1643618" w="2057053">
                  <a:moveTo>
                    <a:pt x="0" y="0"/>
                  </a:moveTo>
                  <a:lnTo>
                    <a:pt x="2057054" y="0"/>
                  </a:lnTo>
                  <a:lnTo>
                    <a:pt x="2057054" y="1643618"/>
                  </a:lnTo>
                  <a:lnTo>
                    <a:pt x="0" y="1643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85240" b="-91882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2057053" cy="1643618"/>
            </a:xfrm>
            <a:custGeom>
              <a:avLst/>
              <a:gdLst/>
              <a:ahLst/>
              <a:cxnLst/>
              <a:rect r="r" b="b" t="t" l="l"/>
              <a:pathLst>
                <a:path h="1643618" w="2057053">
                  <a:moveTo>
                    <a:pt x="2057053" y="0"/>
                  </a:moveTo>
                  <a:lnTo>
                    <a:pt x="0" y="0"/>
                  </a:lnTo>
                  <a:lnTo>
                    <a:pt x="0" y="1643618"/>
                  </a:lnTo>
                  <a:lnTo>
                    <a:pt x="2057053" y="1643618"/>
                  </a:lnTo>
                  <a:lnTo>
                    <a:pt x="2057053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85240" b="-9188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860931" y="2754873"/>
            <a:ext cx="2566139" cy="1625624"/>
          </a:xfrm>
          <a:custGeom>
            <a:avLst/>
            <a:gdLst/>
            <a:ahLst/>
            <a:cxnLst/>
            <a:rect r="r" b="b" t="t" l="l"/>
            <a:pathLst>
              <a:path h="1625624" w="2566139">
                <a:moveTo>
                  <a:pt x="0" y="0"/>
                </a:moveTo>
                <a:lnTo>
                  <a:pt x="2566138" y="0"/>
                </a:lnTo>
                <a:lnTo>
                  <a:pt x="2566138" y="1625625"/>
                </a:lnTo>
                <a:lnTo>
                  <a:pt x="0" y="1625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53121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9" id="9"/>
          <p:cNvSpPr/>
          <p:nvPr/>
        </p:nvSpPr>
        <p:spPr>
          <a:xfrm rot="0">
            <a:off x="6459655" y="4120492"/>
            <a:ext cx="5368690" cy="2333558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827099" y="7001951"/>
            <a:ext cx="4022831" cy="1223468"/>
            <a:chOff x="0" y="0"/>
            <a:chExt cx="9238635" cy="28097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38635" cy="2809755"/>
            </a:xfrm>
            <a:custGeom>
              <a:avLst/>
              <a:gdLst/>
              <a:ahLst/>
              <a:cxnLst/>
              <a:rect r="r" b="b" t="t" l="l"/>
              <a:pathLst>
                <a:path h="2809755" w="9238635">
                  <a:moveTo>
                    <a:pt x="30792" y="0"/>
                  </a:moveTo>
                  <a:lnTo>
                    <a:pt x="9207843" y="0"/>
                  </a:lnTo>
                  <a:cubicBezTo>
                    <a:pt x="9216009" y="0"/>
                    <a:pt x="9223841" y="3244"/>
                    <a:pt x="9229616" y="9019"/>
                  </a:cubicBezTo>
                  <a:cubicBezTo>
                    <a:pt x="9235391" y="14793"/>
                    <a:pt x="9238635" y="22625"/>
                    <a:pt x="9238635" y="30792"/>
                  </a:cubicBezTo>
                  <a:lnTo>
                    <a:pt x="9238635" y="2778964"/>
                  </a:lnTo>
                  <a:cubicBezTo>
                    <a:pt x="9238635" y="2787130"/>
                    <a:pt x="9235391" y="2794962"/>
                    <a:pt x="9229616" y="2800737"/>
                  </a:cubicBezTo>
                  <a:cubicBezTo>
                    <a:pt x="9223841" y="2806511"/>
                    <a:pt x="9216009" y="2809755"/>
                    <a:pt x="9207843" y="2809755"/>
                  </a:cubicBezTo>
                  <a:lnTo>
                    <a:pt x="30792" y="2809755"/>
                  </a:lnTo>
                  <a:cubicBezTo>
                    <a:pt x="22625" y="2809755"/>
                    <a:pt x="14793" y="2806511"/>
                    <a:pt x="9019" y="2800737"/>
                  </a:cubicBezTo>
                  <a:cubicBezTo>
                    <a:pt x="3244" y="2794962"/>
                    <a:pt x="0" y="2787130"/>
                    <a:pt x="0" y="2778964"/>
                  </a:cubicBezTo>
                  <a:lnTo>
                    <a:pt x="0" y="30792"/>
                  </a:lnTo>
                  <a:cubicBezTo>
                    <a:pt x="0" y="22625"/>
                    <a:pt x="3244" y="14793"/>
                    <a:pt x="9019" y="9019"/>
                  </a:cubicBezTo>
                  <a:cubicBezTo>
                    <a:pt x="14793" y="3244"/>
                    <a:pt x="22625" y="0"/>
                    <a:pt x="3079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9238635" cy="2838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FRONTEND TECHNOLOGIES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58936" y="3147785"/>
            <a:ext cx="4809754" cy="1232713"/>
            <a:chOff x="0" y="0"/>
            <a:chExt cx="6413005" cy="16436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355951" y="0"/>
              <a:ext cx="2057053" cy="1643618"/>
            </a:xfrm>
            <a:custGeom>
              <a:avLst/>
              <a:gdLst/>
              <a:ahLst/>
              <a:cxnLst/>
              <a:rect r="r" b="b" t="t" l="l"/>
              <a:pathLst>
                <a:path h="1643618" w="2057053">
                  <a:moveTo>
                    <a:pt x="0" y="0"/>
                  </a:moveTo>
                  <a:lnTo>
                    <a:pt x="2057054" y="0"/>
                  </a:lnTo>
                  <a:lnTo>
                    <a:pt x="2057054" y="1643618"/>
                  </a:lnTo>
                  <a:lnTo>
                    <a:pt x="0" y="1643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85240" b="-91882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true" flipV="false" rot="0">
              <a:off x="0" y="0"/>
              <a:ext cx="2057053" cy="1643618"/>
            </a:xfrm>
            <a:custGeom>
              <a:avLst/>
              <a:gdLst/>
              <a:ahLst/>
              <a:cxnLst/>
              <a:rect r="r" b="b" t="t" l="l"/>
              <a:pathLst>
                <a:path h="1643618" w="2057053">
                  <a:moveTo>
                    <a:pt x="2057053" y="0"/>
                  </a:moveTo>
                  <a:lnTo>
                    <a:pt x="0" y="0"/>
                  </a:lnTo>
                  <a:lnTo>
                    <a:pt x="0" y="1643618"/>
                  </a:lnTo>
                  <a:lnTo>
                    <a:pt x="2057053" y="1643618"/>
                  </a:lnTo>
                  <a:lnTo>
                    <a:pt x="2057053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85240" b="-9188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740866" y="2754873"/>
            <a:ext cx="2566139" cy="1625624"/>
          </a:xfrm>
          <a:custGeom>
            <a:avLst/>
            <a:gdLst/>
            <a:ahLst/>
            <a:cxnLst/>
            <a:rect r="r" b="b" t="t" l="l"/>
            <a:pathLst>
              <a:path h="1625624" w="2566139">
                <a:moveTo>
                  <a:pt x="0" y="0"/>
                </a:moveTo>
                <a:lnTo>
                  <a:pt x="2566139" y="0"/>
                </a:lnTo>
                <a:lnTo>
                  <a:pt x="2566139" y="1625625"/>
                </a:lnTo>
                <a:lnTo>
                  <a:pt x="0" y="1625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53121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7" id="17"/>
          <p:cNvSpPr/>
          <p:nvPr/>
        </p:nvSpPr>
        <p:spPr>
          <a:xfrm rot="0">
            <a:off x="279468" y="4120492"/>
            <a:ext cx="5368690" cy="2333558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18" id="18"/>
          <p:cNvGrpSpPr/>
          <p:nvPr/>
        </p:nvGrpSpPr>
        <p:grpSpPr>
          <a:xfrm rot="0">
            <a:off x="12729014" y="3147785"/>
            <a:ext cx="4809754" cy="1232713"/>
            <a:chOff x="0" y="0"/>
            <a:chExt cx="6413005" cy="16436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355951" y="0"/>
              <a:ext cx="2057053" cy="1643618"/>
            </a:xfrm>
            <a:custGeom>
              <a:avLst/>
              <a:gdLst/>
              <a:ahLst/>
              <a:cxnLst/>
              <a:rect r="r" b="b" t="t" l="l"/>
              <a:pathLst>
                <a:path h="1643618" w="2057053">
                  <a:moveTo>
                    <a:pt x="0" y="0"/>
                  </a:moveTo>
                  <a:lnTo>
                    <a:pt x="2057054" y="0"/>
                  </a:lnTo>
                  <a:lnTo>
                    <a:pt x="2057054" y="1643618"/>
                  </a:lnTo>
                  <a:lnTo>
                    <a:pt x="0" y="1643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85240" b="-91882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false" rot="0">
              <a:off x="0" y="0"/>
              <a:ext cx="2057053" cy="1643618"/>
            </a:xfrm>
            <a:custGeom>
              <a:avLst/>
              <a:gdLst/>
              <a:ahLst/>
              <a:cxnLst/>
              <a:rect r="r" b="b" t="t" l="l"/>
              <a:pathLst>
                <a:path h="1643618" w="2057053">
                  <a:moveTo>
                    <a:pt x="2057053" y="0"/>
                  </a:moveTo>
                  <a:lnTo>
                    <a:pt x="0" y="0"/>
                  </a:lnTo>
                  <a:lnTo>
                    <a:pt x="0" y="1643618"/>
                  </a:lnTo>
                  <a:lnTo>
                    <a:pt x="2057053" y="1643618"/>
                  </a:lnTo>
                  <a:lnTo>
                    <a:pt x="2057053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-185240" b="-9188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3850822" y="2754873"/>
            <a:ext cx="2566139" cy="1625624"/>
          </a:xfrm>
          <a:custGeom>
            <a:avLst/>
            <a:gdLst/>
            <a:ahLst/>
            <a:cxnLst/>
            <a:rect r="r" b="b" t="t" l="l"/>
            <a:pathLst>
              <a:path h="1625624" w="2566139">
                <a:moveTo>
                  <a:pt x="0" y="0"/>
                </a:moveTo>
                <a:lnTo>
                  <a:pt x="2566139" y="0"/>
                </a:lnTo>
                <a:lnTo>
                  <a:pt x="2566139" y="1625625"/>
                </a:lnTo>
                <a:lnTo>
                  <a:pt x="0" y="1625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53121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2" id="22"/>
          <p:cNvSpPr/>
          <p:nvPr/>
        </p:nvSpPr>
        <p:spPr>
          <a:xfrm rot="0">
            <a:off x="12449546" y="4120492"/>
            <a:ext cx="5368690" cy="2333558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23" id="23"/>
          <p:cNvGrpSpPr/>
          <p:nvPr/>
        </p:nvGrpSpPr>
        <p:grpSpPr>
          <a:xfrm rot="0">
            <a:off x="7142890" y="7001951"/>
            <a:ext cx="4022831" cy="1223468"/>
            <a:chOff x="0" y="0"/>
            <a:chExt cx="9238635" cy="28097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38635" cy="2809755"/>
            </a:xfrm>
            <a:custGeom>
              <a:avLst/>
              <a:gdLst/>
              <a:ahLst/>
              <a:cxnLst/>
              <a:rect r="r" b="b" t="t" l="l"/>
              <a:pathLst>
                <a:path h="2809755" w="9238635">
                  <a:moveTo>
                    <a:pt x="30792" y="0"/>
                  </a:moveTo>
                  <a:lnTo>
                    <a:pt x="9207843" y="0"/>
                  </a:lnTo>
                  <a:cubicBezTo>
                    <a:pt x="9216009" y="0"/>
                    <a:pt x="9223841" y="3244"/>
                    <a:pt x="9229616" y="9019"/>
                  </a:cubicBezTo>
                  <a:cubicBezTo>
                    <a:pt x="9235391" y="14793"/>
                    <a:pt x="9238635" y="22625"/>
                    <a:pt x="9238635" y="30792"/>
                  </a:cubicBezTo>
                  <a:lnTo>
                    <a:pt x="9238635" y="2778964"/>
                  </a:lnTo>
                  <a:cubicBezTo>
                    <a:pt x="9238635" y="2787130"/>
                    <a:pt x="9235391" y="2794962"/>
                    <a:pt x="9229616" y="2800737"/>
                  </a:cubicBezTo>
                  <a:cubicBezTo>
                    <a:pt x="9223841" y="2806511"/>
                    <a:pt x="9216009" y="2809755"/>
                    <a:pt x="9207843" y="2809755"/>
                  </a:cubicBezTo>
                  <a:lnTo>
                    <a:pt x="30792" y="2809755"/>
                  </a:lnTo>
                  <a:cubicBezTo>
                    <a:pt x="22625" y="2809755"/>
                    <a:pt x="14793" y="2806511"/>
                    <a:pt x="9019" y="2800737"/>
                  </a:cubicBezTo>
                  <a:cubicBezTo>
                    <a:pt x="3244" y="2794962"/>
                    <a:pt x="0" y="2787130"/>
                    <a:pt x="0" y="2778964"/>
                  </a:cubicBezTo>
                  <a:lnTo>
                    <a:pt x="0" y="30792"/>
                  </a:lnTo>
                  <a:cubicBezTo>
                    <a:pt x="0" y="22625"/>
                    <a:pt x="3244" y="14793"/>
                    <a:pt x="9019" y="9019"/>
                  </a:cubicBezTo>
                  <a:cubicBezTo>
                    <a:pt x="14793" y="3244"/>
                    <a:pt x="22625" y="0"/>
                    <a:pt x="3079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238635" cy="2838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BACKEND TECHNOLOGIES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86805" y="7001951"/>
            <a:ext cx="4272495" cy="1060285"/>
            <a:chOff x="0" y="0"/>
            <a:chExt cx="9812000" cy="24349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12000" cy="2434997"/>
            </a:xfrm>
            <a:custGeom>
              <a:avLst/>
              <a:gdLst/>
              <a:ahLst/>
              <a:cxnLst/>
              <a:rect r="r" b="b" t="t" l="l"/>
              <a:pathLst>
                <a:path h="2434997" w="9812000">
                  <a:moveTo>
                    <a:pt x="28993" y="0"/>
                  </a:moveTo>
                  <a:lnTo>
                    <a:pt x="9783007" y="0"/>
                  </a:lnTo>
                  <a:cubicBezTo>
                    <a:pt x="9790696" y="0"/>
                    <a:pt x="9798071" y="3055"/>
                    <a:pt x="9803508" y="8492"/>
                  </a:cubicBezTo>
                  <a:cubicBezTo>
                    <a:pt x="9808945" y="13929"/>
                    <a:pt x="9812000" y="21303"/>
                    <a:pt x="9812000" y="28993"/>
                  </a:cubicBezTo>
                  <a:lnTo>
                    <a:pt x="9812000" y="2406004"/>
                  </a:lnTo>
                  <a:cubicBezTo>
                    <a:pt x="9812000" y="2413694"/>
                    <a:pt x="9808945" y="2421068"/>
                    <a:pt x="9803508" y="2426505"/>
                  </a:cubicBezTo>
                  <a:cubicBezTo>
                    <a:pt x="9798071" y="2431942"/>
                    <a:pt x="9790696" y="2434997"/>
                    <a:pt x="9783007" y="2434997"/>
                  </a:cubicBezTo>
                  <a:lnTo>
                    <a:pt x="28993" y="2434997"/>
                  </a:lnTo>
                  <a:cubicBezTo>
                    <a:pt x="21303" y="2434997"/>
                    <a:pt x="13929" y="2431942"/>
                    <a:pt x="8492" y="2426505"/>
                  </a:cubicBezTo>
                  <a:cubicBezTo>
                    <a:pt x="3055" y="2421068"/>
                    <a:pt x="0" y="2413694"/>
                    <a:pt x="0" y="2406004"/>
                  </a:cubicBezTo>
                  <a:lnTo>
                    <a:pt x="0" y="28993"/>
                  </a:lnTo>
                  <a:cubicBezTo>
                    <a:pt x="0" y="21303"/>
                    <a:pt x="3055" y="13929"/>
                    <a:pt x="8492" y="8492"/>
                  </a:cubicBezTo>
                  <a:cubicBezTo>
                    <a:pt x="13929" y="3055"/>
                    <a:pt x="21303" y="0"/>
                    <a:pt x="2899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9812000" cy="2463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ML AND NLP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81771" y="4380498"/>
            <a:ext cx="2279579" cy="768625"/>
            <a:chOff x="0" y="0"/>
            <a:chExt cx="5235168" cy="17651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35168" cy="1765186"/>
            </a:xfrm>
            <a:custGeom>
              <a:avLst/>
              <a:gdLst/>
              <a:ahLst/>
              <a:cxnLst/>
              <a:rect r="r" b="b" t="t" l="l"/>
              <a:pathLst>
                <a:path h="1765186" w="5235168">
                  <a:moveTo>
                    <a:pt x="54339" y="0"/>
                  </a:moveTo>
                  <a:lnTo>
                    <a:pt x="5180829" y="0"/>
                  </a:lnTo>
                  <a:cubicBezTo>
                    <a:pt x="5210840" y="0"/>
                    <a:pt x="5235168" y="24329"/>
                    <a:pt x="5235168" y="54339"/>
                  </a:cubicBezTo>
                  <a:lnTo>
                    <a:pt x="5235168" y="1710847"/>
                  </a:lnTo>
                  <a:cubicBezTo>
                    <a:pt x="5235168" y="1725259"/>
                    <a:pt x="5229443" y="1739080"/>
                    <a:pt x="5219252" y="1749271"/>
                  </a:cubicBezTo>
                  <a:cubicBezTo>
                    <a:pt x="5209062" y="1759461"/>
                    <a:pt x="5195240" y="1765186"/>
                    <a:pt x="5180829" y="1765186"/>
                  </a:cubicBezTo>
                  <a:lnTo>
                    <a:pt x="54339" y="1765186"/>
                  </a:lnTo>
                  <a:cubicBezTo>
                    <a:pt x="39928" y="1765186"/>
                    <a:pt x="26106" y="1759461"/>
                    <a:pt x="15916" y="1749271"/>
                  </a:cubicBezTo>
                  <a:cubicBezTo>
                    <a:pt x="5725" y="1739080"/>
                    <a:pt x="0" y="1725259"/>
                    <a:pt x="0" y="1710847"/>
                  </a:cubicBezTo>
                  <a:lnTo>
                    <a:pt x="0" y="54339"/>
                  </a:lnTo>
                  <a:cubicBezTo>
                    <a:pt x="0" y="24329"/>
                    <a:pt x="24329" y="0"/>
                    <a:pt x="5433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5235168" cy="1793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Next.js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023936" y="4374875"/>
            <a:ext cx="2279579" cy="768625"/>
            <a:chOff x="0" y="0"/>
            <a:chExt cx="5235168" cy="17651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35168" cy="1765186"/>
            </a:xfrm>
            <a:custGeom>
              <a:avLst/>
              <a:gdLst/>
              <a:ahLst/>
              <a:cxnLst/>
              <a:rect r="r" b="b" t="t" l="l"/>
              <a:pathLst>
                <a:path h="1765186" w="5235168">
                  <a:moveTo>
                    <a:pt x="54339" y="0"/>
                  </a:moveTo>
                  <a:lnTo>
                    <a:pt x="5180829" y="0"/>
                  </a:lnTo>
                  <a:cubicBezTo>
                    <a:pt x="5210840" y="0"/>
                    <a:pt x="5235168" y="24329"/>
                    <a:pt x="5235168" y="54339"/>
                  </a:cubicBezTo>
                  <a:lnTo>
                    <a:pt x="5235168" y="1710847"/>
                  </a:lnTo>
                  <a:cubicBezTo>
                    <a:pt x="5235168" y="1725259"/>
                    <a:pt x="5229443" y="1739080"/>
                    <a:pt x="5219252" y="1749271"/>
                  </a:cubicBezTo>
                  <a:cubicBezTo>
                    <a:pt x="5209062" y="1759461"/>
                    <a:pt x="5195240" y="1765186"/>
                    <a:pt x="5180829" y="1765186"/>
                  </a:cubicBezTo>
                  <a:lnTo>
                    <a:pt x="54339" y="1765186"/>
                  </a:lnTo>
                  <a:cubicBezTo>
                    <a:pt x="39928" y="1765186"/>
                    <a:pt x="26106" y="1759461"/>
                    <a:pt x="15916" y="1749271"/>
                  </a:cubicBezTo>
                  <a:cubicBezTo>
                    <a:pt x="5725" y="1739080"/>
                    <a:pt x="0" y="1725259"/>
                    <a:pt x="0" y="1710847"/>
                  </a:cubicBezTo>
                  <a:lnTo>
                    <a:pt x="0" y="54339"/>
                  </a:lnTo>
                  <a:cubicBezTo>
                    <a:pt x="0" y="24329"/>
                    <a:pt x="24329" y="0"/>
                    <a:pt x="5433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235168" cy="1793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Tailwind CSS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023936" y="5436316"/>
            <a:ext cx="2279579" cy="768625"/>
            <a:chOff x="0" y="0"/>
            <a:chExt cx="5235168" cy="17651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35168" cy="1765186"/>
            </a:xfrm>
            <a:custGeom>
              <a:avLst/>
              <a:gdLst/>
              <a:ahLst/>
              <a:cxnLst/>
              <a:rect r="r" b="b" t="t" l="l"/>
              <a:pathLst>
                <a:path h="1765186" w="5235168">
                  <a:moveTo>
                    <a:pt x="54339" y="0"/>
                  </a:moveTo>
                  <a:lnTo>
                    <a:pt x="5180829" y="0"/>
                  </a:lnTo>
                  <a:cubicBezTo>
                    <a:pt x="5210840" y="0"/>
                    <a:pt x="5235168" y="24329"/>
                    <a:pt x="5235168" y="54339"/>
                  </a:cubicBezTo>
                  <a:lnTo>
                    <a:pt x="5235168" y="1710847"/>
                  </a:lnTo>
                  <a:cubicBezTo>
                    <a:pt x="5235168" y="1725259"/>
                    <a:pt x="5229443" y="1739080"/>
                    <a:pt x="5219252" y="1749271"/>
                  </a:cubicBezTo>
                  <a:cubicBezTo>
                    <a:pt x="5209062" y="1759461"/>
                    <a:pt x="5195240" y="1765186"/>
                    <a:pt x="5180829" y="1765186"/>
                  </a:cubicBezTo>
                  <a:lnTo>
                    <a:pt x="54339" y="1765186"/>
                  </a:lnTo>
                  <a:cubicBezTo>
                    <a:pt x="39928" y="1765186"/>
                    <a:pt x="26106" y="1759461"/>
                    <a:pt x="15916" y="1749271"/>
                  </a:cubicBezTo>
                  <a:cubicBezTo>
                    <a:pt x="5725" y="1739080"/>
                    <a:pt x="0" y="1725259"/>
                    <a:pt x="0" y="1710847"/>
                  </a:cubicBezTo>
                  <a:lnTo>
                    <a:pt x="0" y="54339"/>
                  </a:lnTo>
                  <a:cubicBezTo>
                    <a:pt x="0" y="24329"/>
                    <a:pt x="24329" y="0"/>
                    <a:pt x="5433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235168" cy="1793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Recharts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81771" y="5436316"/>
            <a:ext cx="2279579" cy="768625"/>
            <a:chOff x="0" y="0"/>
            <a:chExt cx="5235168" cy="17651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35168" cy="1765186"/>
            </a:xfrm>
            <a:custGeom>
              <a:avLst/>
              <a:gdLst/>
              <a:ahLst/>
              <a:cxnLst/>
              <a:rect r="r" b="b" t="t" l="l"/>
              <a:pathLst>
                <a:path h="1765186" w="5235168">
                  <a:moveTo>
                    <a:pt x="54339" y="0"/>
                  </a:moveTo>
                  <a:lnTo>
                    <a:pt x="5180829" y="0"/>
                  </a:lnTo>
                  <a:cubicBezTo>
                    <a:pt x="5210840" y="0"/>
                    <a:pt x="5235168" y="24329"/>
                    <a:pt x="5235168" y="54339"/>
                  </a:cubicBezTo>
                  <a:lnTo>
                    <a:pt x="5235168" y="1710847"/>
                  </a:lnTo>
                  <a:cubicBezTo>
                    <a:pt x="5235168" y="1725259"/>
                    <a:pt x="5229443" y="1739080"/>
                    <a:pt x="5219252" y="1749271"/>
                  </a:cubicBezTo>
                  <a:cubicBezTo>
                    <a:pt x="5209062" y="1759461"/>
                    <a:pt x="5195240" y="1765186"/>
                    <a:pt x="5180829" y="1765186"/>
                  </a:cubicBezTo>
                  <a:lnTo>
                    <a:pt x="54339" y="1765186"/>
                  </a:lnTo>
                  <a:cubicBezTo>
                    <a:pt x="39928" y="1765186"/>
                    <a:pt x="26106" y="1759461"/>
                    <a:pt x="15916" y="1749271"/>
                  </a:cubicBezTo>
                  <a:cubicBezTo>
                    <a:pt x="5725" y="1739080"/>
                    <a:pt x="0" y="1725259"/>
                    <a:pt x="0" y="1710847"/>
                  </a:cubicBezTo>
                  <a:lnTo>
                    <a:pt x="0" y="54339"/>
                  </a:lnTo>
                  <a:cubicBezTo>
                    <a:pt x="0" y="24329"/>
                    <a:pt x="24329" y="0"/>
                    <a:pt x="5433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235168" cy="1793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Framer Motion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87280" y="4902959"/>
            <a:ext cx="2279579" cy="768625"/>
            <a:chOff x="0" y="0"/>
            <a:chExt cx="5235168" cy="176518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35168" cy="1765186"/>
            </a:xfrm>
            <a:custGeom>
              <a:avLst/>
              <a:gdLst/>
              <a:ahLst/>
              <a:cxnLst/>
              <a:rect r="r" b="b" t="t" l="l"/>
              <a:pathLst>
                <a:path h="1765186" w="5235168">
                  <a:moveTo>
                    <a:pt x="54339" y="0"/>
                  </a:moveTo>
                  <a:lnTo>
                    <a:pt x="5180829" y="0"/>
                  </a:lnTo>
                  <a:cubicBezTo>
                    <a:pt x="5210840" y="0"/>
                    <a:pt x="5235168" y="24329"/>
                    <a:pt x="5235168" y="54339"/>
                  </a:cubicBezTo>
                  <a:lnTo>
                    <a:pt x="5235168" y="1710847"/>
                  </a:lnTo>
                  <a:cubicBezTo>
                    <a:pt x="5235168" y="1725259"/>
                    <a:pt x="5229443" y="1739080"/>
                    <a:pt x="5219252" y="1749271"/>
                  </a:cubicBezTo>
                  <a:cubicBezTo>
                    <a:pt x="5209062" y="1759461"/>
                    <a:pt x="5195240" y="1765186"/>
                    <a:pt x="5180829" y="1765186"/>
                  </a:cubicBezTo>
                  <a:lnTo>
                    <a:pt x="54339" y="1765186"/>
                  </a:lnTo>
                  <a:cubicBezTo>
                    <a:pt x="39928" y="1765186"/>
                    <a:pt x="26106" y="1759461"/>
                    <a:pt x="15916" y="1749271"/>
                  </a:cubicBezTo>
                  <a:cubicBezTo>
                    <a:pt x="5725" y="1739080"/>
                    <a:pt x="0" y="1725259"/>
                    <a:pt x="0" y="1710847"/>
                  </a:cubicBezTo>
                  <a:lnTo>
                    <a:pt x="0" y="54339"/>
                  </a:lnTo>
                  <a:cubicBezTo>
                    <a:pt x="0" y="24329"/>
                    <a:pt x="24329" y="0"/>
                    <a:pt x="5433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5235168" cy="1793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FastAPI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721141" y="4902959"/>
            <a:ext cx="2279579" cy="768625"/>
            <a:chOff x="0" y="0"/>
            <a:chExt cx="5235168" cy="176518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235168" cy="1765186"/>
            </a:xfrm>
            <a:custGeom>
              <a:avLst/>
              <a:gdLst/>
              <a:ahLst/>
              <a:cxnLst/>
              <a:rect r="r" b="b" t="t" l="l"/>
              <a:pathLst>
                <a:path h="1765186" w="5235168">
                  <a:moveTo>
                    <a:pt x="54339" y="0"/>
                  </a:moveTo>
                  <a:lnTo>
                    <a:pt x="5180829" y="0"/>
                  </a:lnTo>
                  <a:cubicBezTo>
                    <a:pt x="5210840" y="0"/>
                    <a:pt x="5235168" y="24329"/>
                    <a:pt x="5235168" y="54339"/>
                  </a:cubicBezTo>
                  <a:lnTo>
                    <a:pt x="5235168" y="1710847"/>
                  </a:lnTo>
                  <a:cubicBezTo>
                    <a:pt x="5235168" y="1725259"/>
                    <a:pt x="5229443" y="1739080"/>
                    <a:pt x="5219252" y="1749271"/>
                  </a:cubicBezTo>
                  <a:cubicBezTo>
                    <a:pt x="5209062" y="1759461"/>
                    <a:pt x="5195240" y="1765186"/>
                    <a:pt x="5180829" y="1765186"/>
                  </a:cubicBezTo>
                  <a:lnTo>
                    <a:pt x="54339" y="1765186"/>
                  </a:lnTo>
                  <a:cubicBezTo>
                    <a:pt x="39928" y="1765186"/>
                    <a:pt x="26106" y="1759461"/>
                    <a:pt x="15916" y="1749271"/>
                  </a:cubicBezTo>
                  <a:cubicBezTo>
                    <a:pt x="5725" y="1739080"/>
                    <a:pt x="0" y="1725259"/>
                    <a:pt x="0" y="1710847"/>
                  </a:cubicBezTo>
                  <a:lnTo>
                    <a:pt x="0" y="54339"/>
                  </a:lnTo>
                  <a:cubicBezTo>
                    <a:pt x="0" y="24329"/>
                    <a:pt x="24329" y="0"/>
                    <a:pt x="5433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235168" cy="1793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Python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294343" y="5436316"/>
            <a:ext cx="2279579" cy="917450"/>
            <a:chOff x="0" y="0"/>
            <a:chExt cx="5235168" cy="21069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35168" cy="2106971"/>
            </a:xfrm>
            <a:custGeom>
              <a:avLst/>
              <a:gdLst/>
              <a:ahLst/>
              <a:cxnLst/>
              <a:rect r="r" b="b" t="t" l="l"/>
              <a:pathLst>
                <a:path h="2106971" w="5235168">
                  <a:moveTo>
                    <a:pt x="54339" y="0"/>
                  </a:moveTo>
                  <a:lnTo>
                    <a:pt x="5180829" y="0"/>
                  </a:lnTo>
                  <a:cubicBezTo>
                    <a:pt x="5210840" y="0"/>
                    <a:pt x="5235168" y="24329"/>
                    <a:pt x="5235168" y="54339"/>
                  </a:cubicBezTo>
                  <a:lnTo>
                    <a:pt x="5235168" y="2052632"/>
                  </a:lnTo>
                  <a:cubicBezTo>
                    <a:pt x="5235168" y="2067044"/>
                    <a:pt x="5229443" y="2080865"/>
                    <a:pt x="5219252" y="2091056"/>
                  </a:cubicBezTo>
                  <a:cubicBezTo>
                    <a:pt x="5209062" y="2101246"/>
                    <a:pt x="5195240" y="2106971"/>
                    <a:pt x="5180829" y="2106971"/>
                  </a:cubicBezTo>
                  <a:lnTo>
                    <a:pt x="54339" y="2106971"/>
                  </a:lnTo>
                  <a:cubicBezTo>
                    <a:pt x="24329" y="2106971"/>
                    <a:pt x="0" y="2082643"/>
                    <a:pt x="0" y="2052632"/>
                  </a:cubicBezTo>
                  <a:lnTo>
                    <a:pt x="0" y="54339"/>
                  </a:lnTo>
                  <a:cubicBezTo>
                    <a:pt x="0" y="24329"/>
                    <a:pt x="24329" y="0"/>
                    <a:pt x="5433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235168" cy="2135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NLP Lexicon analysis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729014" y="5436316"/>
            <a:ext cx="2279579" cy="917450"/>
            <a:chOff x="0" y="0"/>
            <a:chExt cx="5235168" cy="21069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35168" cy="2106971"/>
            </a:xfrm>
            <a:custGeom>
              <a:avLst/>
              <a:gdLst/>
              <a:ahLst/>
              <a:cxnLst/>
              <a:rect r="r" b="b" t="t" l="l"/>
              <a:pathLst>
                <a:path h="2106971" w="5235168">
                  <a:moveTo>
                    <a:pt x="54339" y="0"/>
                  </a:moveTo>
                  <a:lnTo>
                    <a:pt x="5180829" y="0"/>
                  </a:lnTo>
                  <a:cubicBezTo>
                    <a:pt x="5210840" y="0"/>
                    <a:pt x="5235168" y="24329"/>
                    <a:pt x="5235168" y="54339"/>
                  </a:cubicBezTo>
                  <a:lnTo>
                    <a:pt x="5235168" y="2052632"/>
                  </a:lnTo>
                  <a:cubicBezTo>
                    <a:pt x="5235168" y="2067044"/>
                    <a:pt x="5229443" y="2080865"/>
                    <a:pt x="5219252" y="2091056"/>
                  </a:cubicBezTo>
                  <a:cubicBezTo>
                    <a:pt x="5209062" y="2101246"/>
                    <a:pt x="5195240" y="2106971"/>
                    <a:pt x="5180829" y="2106971"/>
                  </a:cubicBezTo>
                  <a:lnTo>
                    <a:pt x="54339" y="2106971"/>
                  </a:lnTo>
                  <a:cubicBezTo>
                    <a:pt x="24329" y="2106971"/>
                    <a:pt x="0" y="2082643"/>
                    <a:pt x="0" y="2052632"/>
                  </a:cubicBezTo>
                  <a:lnTo>
                    <a:pt x="0" y="54339"/>
                  </a:lnTo>
                  <a:cubicBezTo>
                    <a:pt x="0" y="24329"/>
                    <a:pt x="24329" y="0"/>
                    <a:pt x="5433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5235168" cy="2135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Scikit - learn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277171" y="4374875"/>
            <a:ext cx="2279579" cy="917450"/>
            <a:chOff x="0" y="0"/>
            <a:chExt cx="5235168" cy="210697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35168" cy="2106971"/>
            </a:xfrm>
            <a:custGeom>
              <a:avLst/>
              <a:gdLst/>
              <a:ahLst/>
              <a:cxnLst/>
              <a:rect r="r" b="b" t="t" l="l"/>
              <a:pathLst>
                <a:path h="2106971" w="5235168">
                  <a:moveTo>
                    <a:pt x="54339" y="0"/>
                  </a:moveTo>
                  <a:lnTo>
                    <a:pt x="5180829" y="0"/>
                  </a:lnTo>
                  <a:cubicBezTo>
                    <a:pt x="5210840" y="0"/>
                    <a:pt x="5235168" y="24329"/>
                    <a:pt x="5235168" y="54339"/>
                  </a:cubicBezTo>
                  <a:lnTo>
                    <a:pt x="5235168" y="2052632"/>
                  </a:lnTo>
                  <a:cubicBezTo>
                    <a:pt x="5235168" y="2067044"/>
                    <a:pt x="5229443" y="2080865"/>
                    <a:pt x="5219252" y="2091056"/>
                  </a:cubicBezTo>
                  <a:cubicBezTo>
                    <a:pt x="5209062" y="2101246"/>
                    <a:pt x="5195240" y="2106971"/>
                    <a:pt x="5180829" y="2106971"/>
                  </a:cubicBezTo>
                  <a:lnTo>
                    <a:pt x="54339" y="2106971"/>
                  </a:lnTo>
                  <a:cubicBezTo>
                    <a:pt x="24329" y="2106971"/>
                    <a:pt x="0" y="2082643"/>
                    <a:pt x="0" y="2052632"/>
                  </a:cubicBezTo>
                  <a:lnTo>
                    <a:pt x="0" y="54339"/>
                  </a:lnTo>
                  <a:cubicBezTo>
                    <a:pt x="0" y="24329"/>
                    <a:pt x="24329" y="0"/>
                    <a:pt x="5433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5235168" cy="2135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Gradient Boosting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729014" y="4374875"/>
            <a:ext cx="2279579" cy="917450"/>
            <a:chOff x="0" y="0"/>
            <a:chExt cx="5235168" cy="21069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235168" cy="2106971"/>
            </a:xfrm>
            <a:custGeom>
              <a:avLst/>
              <a:gdLst/>
              <a:ahLst/>
              <a:cxnLst/>
              <a:rect r="r" b="b" t="t" l="l"/>
              <a:pathLst>
                <a:path h="2106971" w="5235168">
                  <a:moveTo>
                    <a:pt x="54339" y="0"/>
                  </a:moveTo>
                  <a:lnTo>
                    <a:pt x="5180829" y="0"/>
                  </a:lnTo>
                  <a:cubicBezTo>
                    <a:pt x="5210840" y="0"/>
                    <a:pt x="5235168" y="24329"/>
                    <a:pt x="5235168" y="54339"/>
                  </a:cubicBezTo>
                  <a:lnTo>
                    <a:pt x="5235168" y="2052632"/>
                  </a:lnTo>
                  <a:cubicBezTo>
                    <a:pt x="5235168" y="2067044"/>
                    <a:pt x="5229443" y="2080865"/>
                    <a:pt x="5219252" y="2091056"/>
                  </a:cubicBezTo>
                  <a:cubicBezTo>
                    <a:pt x="5209062" y="2101246"/>
                    <a:pt x="5195240" y="2106971"/>
                    <a:pt x="5180829" y="2106971"/>
                  </a:cubicBezTo>
                  <a:lnTo>
                    <a:pt x="54339" y="2106971"/>
                  </a:lnTo>
                  <a:cubicBezTo>
                    <a:pt x="24329" y="2106971"/>
                    <a:pt x="0" y="2082643"/>
                    <a:pt x="0" y="2052632"/>
                  </a:cubicBezTo>
                  <a:lnTo>
                    <a:pt x="0" y="54339"/>
                  </a:lnTo>
                  <a:cubicBezTo>
                    <a:pt x="0" y="24329"/>
                    <a:pt x="24329" y="0"/>
                    <a:pt x="5433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5235168" cy="2135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TF-IDF Vectorization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209" y="1335179"/>
            <a:ext cx="16431454" cy="8592119"/>
            <a:chOff x="0" y="0"/>
            <a:chExt cx="37735663" cy="197322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735663" cy="19732236"/>
            </a:xfrm>
            <a:custGeom>
              <a:avLst/>
              <a:gdLst/>
              <a:ahLst/>
              <a:cxnLst/>
              <a:rect r="r" b="b" t="t" l="l"/>
              <a:pathLst>
                <a:path h="19732236" w="37735663">
                  <a:moveTo>
                    <a:pt x="24029" y="0"/>
                  </a:moveTo>
                  <a:lnTo>
                    <a:pt x="37711633" y="0"/>
                  </a:lnTo>
                  <a:cubicBezTo>
                    <a:pt x="37718005" y="0"/>
                    <a:pt x="37724119" y="2532"/>
                    <a:pt x="37728624" y="7038"/>
                  </a:cubicBezTo>
                  <a:cubicBezTo>
                    <a:pt x="37733129" y="11544"/>
                    <a:pt x="37735663" y="17656"/>
                    <a:pt x="37735663" y="24029"/>
                  </a:cubicBezTo>
                  <a:lnTo>
                    <a:pt x="37735663" y="19708206"/>
                  </a:lnTo>
                  <a:cubicBezTo>
                    <a:pt x="37735663" y="19714580"/>
                    <a:pt x="37733129" y="19720691"/>
                    <a:pt x="37728624" y="19725198"/>
                  </a:cubicBezTo>
                  <a:cubicBezTo>
                    <a:pt x="37724119" y="19729704"/>
                    <a:pt x="37718005" y="19732236"/>
                    <a:pt x="37711633" y="19732236"/>
                  </a:cubicBezTo>
                  <a:lnTo>
                    <a:pt x="24029" y="19732236"/>
                  </a:lnTo>
                  <a:cubicBezTo>
                    <a:pt x="17656" y="19732236"/>
                    <a:pt x="11544" y="19729704"/>
                    <a:pt x="7038" y="19725198"/>
                  </a:cubicBezTo>
                  <a:cubicBezTo>
                    <a:pt x="2532" y="19720691"/>
                    <a:pt x="0" y="19714580"/>
                    <a:pt x="0" y="19708206"/>
                  </a:cubicBezTo>
                  <a:lnTo>
                    <a:pt x="0" y="24029"/>
                  </a:lnTo>
                  <a:cubicBezTo>
                    <a:pt x="0" y="17656"/>
                    <a:pt x="2532" y="11544"/>
                    <a:pt x="7038" y="7038"/>
                  </a:cubicBezTo>
                  <a:cubicBezTo>
                    <a:pt x="11544" y="2532"/>
                    <a:pt x="17656" y="0"/>
                    <a:pt x="240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7735663" cy="19722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31877" y="0"/>
            <a:ext cx="5873543" cy="1335179"/>
            <a:chOff x="0" y="0"/>
            <a:chExt cx="13488888" cy="30663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88888" cy="3066306"/>
            </a:xfrm>
            <a:custGeom>
              <a:avLst/>
              <a:gdLst/>
              <a:ahLst/>
              <a:cxnLst/>
              <a:rect r="r" b="b" t="t" l="l"/>
              <a:pathLst>
                <a:path h="3066306" w="13488888">
                  <a:moveTo>
                    <a:pt x="67223" y="0"/>
                  </a:moveTo>
                  <a:lnTo>
                    <a:pt x="13421664" y="0"/>
                  </a:lnTo>
                  <a:cubicBezTo>
                    <a:pt x="13458791" y="0"/>
                    <a:pt x="13488888" y="30097"/>
                    <a:pt x="13488888" y="67223"/>
                  </a:cubicBezTo>
                  <a:lnTo>
                    <a:pt x="13488888" y="2999083"/>
                  </a:lnTo>
                  <a:cubicBezTo>
                    <a:pt x="13488888" y="3036209"/>
                    <a:pt x="13458791" y="3066306"/>
                    <a:pt x="13421664" y="3066306"/>
                  </a:cubicBezTo>
                  <a:lnTo>
                    <a:pt x="67223" y="3066306"/>
                  </a:lnTo>
                  <a:cubicBezTo>
                    <a:pt x="30097" y="3066306"/>
                    <a:pt x="0" y="3036209"/>
                    <a:pt x="0" y="2999083"/>
                  </a:cubicBezTo>
                  <a:lnTo>
                    <a:pt x="0" y="67223"/>
                  </a:lnTo>
                  <a:cubicBezTo>
                    <a:pt x="0" y="30097"/>
                    <a:pt x="30097" y="0"/>
                    <a:pt x="67223" y="0"/>
                  </a:cubicBezTo>
                  <a:close/>
                </a:path>
              </a:pathLst>
            </a:custGeom>
            <a:solidFill>
              <a:srgbClr val="A6D9F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3488888" cy="3132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40"/>
                </a:lnSpc>
                <a:spcBef>
                  <a:spcPct val="0"/>
                </a:spcBef>
              </a:pPr>
              <a:r>
                <a:rPr lang="en-US" b="true" sz="3957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System Architecture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364194" y="1410004"/>
            <a:ext cx="13289101" cy="8442469"/>
          </a:xfrm>
          <a:custGeom>
            <a:avLst/>
            <a:gdLst/>
            <a:ahLst/>
            <a:cxnLst/>
            <a:rect r="r" b="b" t="t" l="l"/>
            <a:pathLst>
              <a:path h="8442469" w="13289101">
                <a:moveTo>
                  <a:pt x="0" y="0"/>
                </a:moveTo>
                <a:lnTo>
                  <a:pt x="13289101" y="0"/>
                </a:lnTo>
                <a:lnTo>
                  <a:pt x="13289101" y="8442469"/>
                </a:lnTo>
                <a:lnTo>
                  <a:pt x="0" y="844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31334" y="201377"/>
            <a:ext cx="8115300" cy="928953"/>
            <a:chOff x="0" y="0"/>
            <a:chExt cx="18637197" cy="21333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37197" cy="2133389"/>
            </a:xfrm>
            <a:custGeom>
              <a:avLst/>
              <a:gdLst/>
              <a:ahLst/>
              <a:cxnLst/>
              <a:rect r="r" b="b" t="t" l="l"/>
              <a:pathLst>
                <a:path h="2133389" w="18637197">
                  <a:moveTo>
                    <a:pt x="15264" y="0"/>
                  </a:moveTo>
                  <a:lnTo>
                    <a:pt x="18621933" y="0"/>
                  </a:lnTo>
                  <a:cubicBezTo>
                    <a:pt x="18625981" y="0"/>
                    <a:pt x="18629864" y="1608"/>
                    <a:pt x="18632726" y="4471"/>
                  </a:cubicBezTo>
                  <a:cubicBezTo>
                    <a:pt x="18635590" y="7333"/>
                    <a:pt x="18637197" y="11216"/>
                    <a:pt x="18637197" y="15264"/>
                  </a:cubicBezTo>
                  <a:lnTo>
                    <a:pt x="18637197" y="2118125"/>
                  </a:lnTo>
                  <a:cubicBezTo>
                    <a:pt x="18637197" y="2122173"/>
                    <a:pt x="18635590" y="2126055"/>
                    <a:pt x="18632726" y="2128918"/>
                  </a:cubicBezTo>
                  <a:cubicBezTo>
                    <a:pt x="18629864" y="2131780"/>
                    <a:pt x="18625981" y="2133389"/>
                    <a:pt x="18621933" y="2133389"/>
                  </a:cubicBezTo>
                  <a:lnTo>
                    <a:pt x="15264" y="2133389"/>
                  </a:lnTo>
                  <a:cubicBezTo>
                    <a:pt x="11216" y="2133389"/>
                    <a:pt x="7333" y="2131780"/>
                    <a:pt x="4471" y="2128918"/>
                  </a:cubicBezTo>
                  <a:cubicBezTo>
                    <a:pt x="1608" y="2126055"/>
                    <a:pt x="0" y="2122173"/>
                    <a:pt x="0" y="2118125"/>
                  </a:cubicBezTo>
                  <a:lnTo>
                    <a:pt x="0" y="15264"/>
                  </a:lnTo>
                  <a:cubicBezTo>
                    <a:pt x="0" y="11216"/>
                    <a:pt x="1608" y="7333"/>
                    <a:pt x="4471" y="4471"/>
                  </a:cubicBezTo>
                  <a:cubicBezTo>
                    <a:pt x="7333" y="1608"/>
                    <a:pt x="11216" y="0"/>
                    <a:pt x="1526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637197" cy="2161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59"/>
                </a:lnSpc>
                <a:spcBef>
                  <a:spcPct val="0"/>
                </a:spcBef>
              </a:pPr>
              <a:r>
                <a:rPr lang="en-US" b="true" sz="32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Dataset and Preprocessing Pipeline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261397"/>
            <a:ext cx="3814427" cy="1864452"/>
            <a:chOff x="0" y="0"/>
            <a:chExt cx="1257391" cy="614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7391" cy="614600"/>
            </a:xfrm>
            <a:custGeom>
              <a:avLst/>
              <a:gdLst/>
              <a:ahLst/>
              <a:cxnLst/>
              <a:rect r="r" b="b" t="t" l="l"/>
              <a:pathLst>
                <a:path h="614600" w="1257391">
                  <a:moveTo>
                    <a:pt x="1054191" y="0"/>
                  </a:moveTo>
                  <a:lnTo>
                    <a:pt x="0" y="0"/>
                  </a:lnTo>
                  <a:lnTo>
                    <a:pt x="0" y="614600"/>
                  </a:lnTo>
                  <a:lnTo>
                    <a:pt x="1054191" y="614600"/>
                  </a:lnTo>
                  <a:lnTo>
                    <a:pt x="1257391" y="307300"/>
                  </a:lnTo>
                  <a:lnTo>
                    <a:pt x="1054191" y="0"/>
                  </a:ln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43091" cy="6622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24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69140" y="3197677"/>
            <a:ext cx="3944788" cy="1928171"/>
            <a:chOff x="0" y="0"/>
            <a:chExt cx="1257391" cy="614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7391" cy="614600"/>
            </a:xfrm>
            <a:custGeom>
              <a:avLst/>
              <a:gdLst/>
              <a:ahLst/>
              <a:cxnLst/>
              <a:rect r="r" b="b" t="t" l="l"/>
              <a:pathLst>
                <a:path h="614600" w="1257391">
                  <a:moveTo>
                    <a:pt x="1054191" y="0"/>
                  </a:moveTo>
                  <a:lnTo>
                    <a:pt x="0" y="0"/>
                  </a:lnTo>
                  <a:lnTo>
                    <a:pt x="0" y="614600"/>
                  </a:lnTo>
                  <a:lnTo>
                    <a:pt x="1054191" y="614600"/>
                  </a:lnTo>
                  <a:lnTo>
                    <a:pt x="1257391" y="307300"/>
                  </a:lnTo>
                  <a:lnTo>
                    <a:pt x="1054191" y="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143091" cy="6622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24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8567529"/>
            <a:ext cx="15563925" cy="2820456"/>
            <a:chOff x="0" y="0"/>
            <a:chExt cx="35743341" cy="6477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743341" cy="6477320"/>
            </a:xfrm>
            <a:custGeom>
              <a:avLst/>
              <a:gdLst/>
              <a:ahLst/>
              <a:cxnLst/>
              <a:rect r="r" b="b" t="t" l="l"/>
              <a:pathLst>
                <a:path h="6477320" w="35743341">
                  <a:moveTo>
                    <a:pt x="25369" y="0"/>
                  </a:moveTo>
                  <a:lnTo>
                    <a:pt x="35717972" y="0"/>
                  </a:lnTo>
                  <a:cubicBezTo>
                    <a:pt x="35731983" y="0"/>
                    <a:pt x="35743341" y="11358"/>
                    <a:pt x="35743341" y="25369"/>
                  </a:cubicBezTo>
                  <a:lnTo>
                    <a:pt x="35743341" y="6451951"/>
                  </a:lnTo>
                  <a:cubicBezTo>
                    <a:pt x="35743341" y="6465962"/>
                    <a:pt x="35731983" y="6477320"/>
                    <a:pt x="35717972" y="6477320"/>
                  </a:cubicBezTo>
                  <a:lnTo>
                    <a:pt x="25369" y="6477320"/>
                  </a:lnTo>
                  <a:cubicBezTo>
                    <a:pt x="11358" y="6477320"/>
                    <a:pt x="0" y="6465962"/>
                    <a:pt x="0" y="6451951"/>
                  </a:cubicBezTo>
                  <a:lnTo>
                    <a:pt x="0" y="25369"/>
                  </a:lnTo>
                  <a:cubicBezTo>
                    <a:pt x="0" y="11358"/>
                    <a:pt x="11358" y="0"/>
                    <a:pt x="25369" y="0"/>
                  </a:cubicBezTo>
                  <a:close/>
                </a:path>
              </a:pathLst>
            </a:custGeom>
            <a:solidFill>
              <a:srgbClr val="F8F6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5743341" cy="6534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0"/>
                </a:lnSpc>
              </a:pPr>
              <a:r>
                <a:rPr lang="en-US" sz="2957" b="true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Why we keep stop-words</a:t>
              </a:r>
            </a:p>
            <a:p>
              <a:pPr algn="ctr">
                <a:lnSpc>
                  <a:spcPts val="3300"/>
                </a:lnSpc>
              </a:pPr>
              <a:r>
                <a:rPr lang="en-US" sz="2357">
                  <a:solidFill>
                    <a:srgbClr val="000000"/>
                  </a:solidFill>
                  <a:latin typeface="Anek Devanagari SemiExpanded"/>
                  <a:ea typeface="Anek Devanagari SemiExpanded"/>
                  <a:cs typeface="Anek Devanagari SemiExpanded"/>
                  <a:sym typeface="Anek Devanagari SemiExpanded"/>
                </a:rPr>
                <a:t>Hedges ("maybe", "perhaps", "I think") and boosters ("definitely", "absolutely", "obviously") ARE the confidence signal. Removing stop-words would destroy the very feature we want to detect.</a:t>
              </a:r>
            </a:p>
            <a:p>
              <a:pPr algn="ctr">
                <a:lnSpc>
                  <a:spcPts val="4140"/>
                </a:lnSpc>
              </a:pPr>
            </a:p>
            <a:p>
              <a:pPr algn="ctr" marL="0" indent="0" lvl="0">
                <a:lnSpc>
                  <a:spcPts val="41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5404392"/>
            <a:ext cx="3814427" cy="1864452"/>
            <a:chOff x="0" y="0"/>
            <a:chExt cx="1257391" cy="614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7391" cy="614600"/>
            </a:xfrm>
            <a:custGeom>
              <a:avLst/>
              <a:gdLst/>
              <a:ahLst/>
              <a:cxnLst/>
              <a:rect r="r" b="b" t="t" l="l"/>
              <a:pathLst>
                <a:path h="614600" w="1257391">
                  <a:moveTo>
                    <a:pt x="1054191" y="0"/>
                  </a:moveTo>
                  <a:lnTo>
                    <a:pt x="0" y="0"/>
                  </a:lnTo>
                  <a:lnTo>
                    <a:pt x="0" y="614600"/>
                  </a:lnTo>
                  <a:lnTo>
                    <a:pt x="1054191" y="614600"/>
                  </a:lnTo>
                  <a:lnTo>
                    <a:pt x="1257391" y="307300"/>
                  </a:lnTo>
                  <a:lnTo>
                    <a:pt x="1054191" y="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143091" cy="6622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24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369140" y="5372532"/>
            <a:ext cx="3944788" cy="1928171"/>
            <a:chOff x="0" y="0"/>
            <a:chExt cx="1257391" cy="614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7391" cy="614600"/>
            </a:xfrm>
            <a:custGeom>
              <a:avLst/>
              <a:gdLst/>
              <a:ahLst/>
              <a:cxnLst/>
              <a:rect r="r" b="b" t="t" l="l"/>
              <a:pathLst>
                <a:path h="614600" w="1257391">
                  <a:moveTo>
                    <a:pt x="1054191" y="0"/>
                  </a:moveTo>
                  <a:lnTo>
                    <a:pt x="0" y="0"/>
                  </a:lnTo>
                  <a:lnTo>
                    <a:pt x="0" y="614600"/>
                  </a:lnTo>
                  <a:lnTo>
                    <a:pt x="1054191" y="614600"/>
                  </a:lnTo>
                  <a:lnTo>
                    <a:pt x="1257391" y="307300"/>
                  </a:lnTo>
                  <a:lnTo>
                    <a:pt x="1054191" y="0"/>
                  </a:ln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143091" cy="66222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248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7512" y="3642440"/>
            <a:ext cx="2187149" cy="1038647"/>
            <a:chOff x="0" y="0"/>
            <a:chExt cx="5022897" cy="23853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22897" cy="2385306"/>
            </a:xfrm>
            <a:custGeom>
              <a:avLst/>
              <a:gdLst/>
              <a:ahLst/>
              <a:cxnLst/>
              <a:rect r="r" b="b" t="t" l="l"/>
              <a:pathLst>
                <a:path h="2385306" w="5022897">
                  <a:moveTo>
                    <a:pt x="56636" y="0"/>
                  </a:moveTo>
                  <a:lnTo>
                    <a:pt x="4966262" y="0"/>
                  </a:lnTo>
                  <a:cubicBezTo>
                    <a:pt x="4997541" y="0"/>
                    <a:pt x="5022897" y="25357"/>
                    <a:pt x="5022897" y="56636"/>
                  </a:cubicBezTo>
                  <a:lnTo>
                    <a:pt x="5022897" y="2328670"/>
                  </a:lnTo>
                  <a:cubicBezTo>
                    <a:pt x="5022897" y="2359949"/>
                    <a:pt x="4997541" y="2385306"/>
                    <a:pt x="4966262" y="2385306"/>
                  </a:cubicBezTo>
                  <a:lnTo>
                    <a:pt x="56636" y="2385306"/>
                  </a:lnTo>
                  <a:cubicBezTo>
                    <a:pt x="25357" y="2385306"/>
                    <a:pt x="0" y="2359949"/>
                    <a:pt x="0" y="2328670"/>
                  </a:cubicBezTo>
                  <a:lnTo>
                    <a:pt x="0" y="56636"/>
                  </a:lnTo>
                  <a:cubicBezTo>
                    <a:pt x="0" y="25357"/>
                    <a:pt x="25357" y="0"/>
                    <a:pt x="5663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022897" cy="2413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b="true" sz="2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2,987</a:t>
              </a:r>
            </a:p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SAMPLES (CLEANED)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31334" y="3674299"/>
            <a:ext cx="2187149" cy="1038647"/>
            <a:chOff x="0" y="0"/>
            <a:chExt cx="5022897" cy="23853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22897" cy="2385306"/>
            </a:xfrm>
            <a:custGeom>
              <a:avLst/>
              <a:gdLst/>
              <a:ahLst/>
              <a:cxnLst/>
              <a:rect r="r" b="b" t="t" l="l"/>
              <a:pathLst>
                <a:path h="2385306" w="5022897">
                  <a:moveTo>
                    <a:pt x="56636" y="0"/>
                  </a:moveTo>
                  <a:lnTo>
                    <a:pt x="4966262" y="0"/>
                  </a:lnTo>
                  <a:cubicBezTo>
                    <a:pt x="4997541" y="0"/>
                    <a:pt x="5022897" y="25357"/>
                    <a:pt x="5022897" y="56636"/>
                  </a:cubicBezTo>
                  <a:lnTo>
                    <a:pt x="5022897" y="2328670"/>
                  </a:lnTo>
                  <a:cubicBezTo>
                    <a:pt x="5022897" y="2359949"/>
                    <a:pt x="4997541" y="2385306"/>
                    <a:pt x="4966262" y="2385306"/>
                  </a:cubicBezTo>
                  <a:lnTo>
                    <a:pt x="56636" y="2385306"/>
                  </a:lnTo>
                  <a:cubicBezTo>
                    <a:pt x="25357" y="2385306"/>
                    <a:pt x="0" y="2359949"/>
                    <a:pt x="0" y="2328670"/>
                  </a:cubicBezTo>
                  <a:lnTo>
                    <a:pt x="0" y="56636"/>
                  </a:lnTo>
                  <a:cubicBezTo>
                    <a:pt x="0" y="25357"/>
                    <a:pt x="25357" y="0"/>
                    <a:pt x="5663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022897" cy="2413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b="true" sz="2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ORDINAL CLASSES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27512" y="5739934"/>
            <a:ext cx="2187149" cy="1038647"/>
            <a:chOff x="0" y="0"/>
            <a:chExt cx="5022897" cy="23853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22897" cy="2385306"/>
            </a:xfrm>
            <a:custGeom>
              <a:avLst/>
              <a:gdLst/>
              <a:ahLst/>
              <a:cxnLst/>
              <a:rect r="r" b="b" t="t" l="l"/>
              <a:pathLst>
                <a:path h="2385306" w="5022897">
                  <a:moveTo>
                    <a:pt x="56636" y="0"/>
                  </a:moveTo>
                  <a:lnTo>
                    <a:pt x="4966262" y="0"/>
                  </a:lnTo>
                  <a:cubicBezTo>
                    <a:pt x="4997541" y="0"/>
                    <a:pt x="5022897" y="25357"/>
                    <a:pt x="5022897" y="56636"/>
                  </a:cubicBezTo>
                  <a:lnTo>
                    <a:pt x="5022897" y="2328670"/>
                  </a:lnTo>
                  <a:cubicBezTo>
                    <a:pt x="5022897" y="2359949"/>
                    <a:pt x="4997541" y="2385306"/>
                    <a:pt x="4966262" y="2385306"/>
                  </a:cubicBezTo>
                  <a:lnTo>
                    <a:pt x="56636" y="2385306"/>
                  </a:lnTo>
                  <a:cubicBezTo>
                    <a:pt x="25357" y="2385306"/>
                    <a:pt x="0" y="2359949"/>
                    <a:pt x="0" y="2328670"/>
                  </a:cubicBezTo>
                  <a:lnTo>
                    <a:pt x="0" y="56636"/>
                  </a:lnTo>
                  <a:cubicBezTo>
                    <a:pt x="0" y="25357"/>
                    <a:pt x="25357" y="0"/>
                    <a:pt x="5663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5022897" cy="2413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b="true" sz="2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2,389</a:t>
              </a:r>
            </a:p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TRAIN </a:t>
              </a:r>
              <a:r>
                <a:rPr lang="en-US" sz="1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(80%)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031334" y="5817295"/>
            <a:ext cx="2187149" cy="1038647"/>
            <a:chOff x="0" y="0"/>
            <a:chExt cx="5022897" cy="238530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22897" cy="2385306"/>
            </a:xfrm>
            <a:custGeom>
              <a:avLst/>
              <a:gdLst/>
              <a:ahLst/>
              <a:cxnLst/>
              <a:rect r="r" b="b" t="t" l="l"/>
              <a:pathLst>
                <a:path h="2385306" w="5022897">
                  <a:moveTo>
                    <a:pt x="56636" y="0"/>
                  </a:moveTo>
                  <a:lnTo>
                    <a:pt x="4966262" y="0"/>
                  </a:lnTo>
                  <a:cubicBezTo>
                    <a:pt x="4997541" y="0"/>
                    <a:pt x="5022897" y="25357"/>
                    <a:pt x="5022897" y="56636"/>
                  </a:cubicBezTo>
                  <a:lnTo>
                    <a:pt x="5022897" y="2328670"/>
                  </a:lnTo>
                  <a:cubicBezTo>
                    <a:pt x="5022897" y="2359949"/>
                    <a:pt x="4997541" y="2385306"/>
                    <a:pt x="4966262" y="2385306"/>
                  </a:cubicBezTo>
                  <a:lnTo>
                    <a:pt x="56636" y="2385306"/>
                  </a:lnTo>
                  <a:cubicBezTo>
                    <a:pt x="25357" y="2385306"/>
                    <a:pt x="0" y="2359949"/>
                    <a:pt x="0" y="2328670"/>
                  </a:cubicBezTo>
                  <a:lnTo>
                    <a:pt x="0" y="56636"/>
                  </a:lnTo>
                  <a:cubicBezTo>
                    <a:pt x="0" y="25357"/>
                    <a:pt x="25357" y="0"/>
                    <a:pt x="5663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5022897" cy="2413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b="true" sz="2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598</a:t>
              </a:r>
            </a:p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TEST </a:t>
              </a:r>
              <a:r>
                <a:rPr lang="en-US" sz="1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(20%)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844186" y="1882805"/>
            <a:ext cx="2187149" cy="1038647"/>
            <a:chOff x="0" y="0"/>
            <a:chExt cx="5022897" cy="238530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22897" cy="2385306"/>
            </a:xfrm>
            <a:custGeom>
              <a:avLst/>
              <a:gdLst/>
              <a:ahLst/>
              <a:cxnLst/>
              <a:rect r="r" b="b" t="t" l="l"/>
              <a:pathLst>
                <a:path h="2385306" w="5022897">
                  <a:moveTo>
                    <a:pt x="56636" y="0"/>
                  </a:moveTo>
                  <a:lnTo>
                    <a:pt x="4966262" y="0"/>
                  </a:lnTo>
                  <a:cubicBezTo>
                    <a:pt x="4997541" y="0"/>
                    <a:pt x="5022897" y="25357"/>
                    <a:pt x="5022897" y="56636"/>
                  </a:cubicBezTo>
                  <a:lnTo>
                    <a:pt x="5022897" y="2328670"/>
                  </a:lnTo>
                  <a:cubicBezTo>
                    <a:pt x="5022897" y="2359949"/>
                    <a:pt x="4997541" y="2385306"/>
                    <a:pt x="4966262" y="2385306"/>
                  </a:cubicBezTo>
                  <a:lnTo>
                    <a:pt x="56636" y="2385306"/>
                  </a:lnTo>
                  <a:cubicBezTo>
                    <a:pt x="25357" y="2385306"/>
                    <a:pt x="0" y="2359949"/>
                    <a:pt x="0" y="2328670"/>
                  </a:cubicBezTo>
                  <a:lnTo>
                    <a:pt x="0" y="56636"/>
                  </a:lnTo>
                  <a:cubicBezTo>
                    <a:pt x="0" y="25357"/>
                    <a:pt x="25357" y="0"/>
                    <a:pt x="5663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022897" cy="2413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DATASET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936491" y="1622835"/>
            <a:ext cx="3112329" cy="1038647"/>
            <a:chOff x="0" y="0"/>
            <a:chExt cx="7147620" cy="23853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47620" cy="2385306"/>
            </a:xfrm>
            <a:custGeom>
              <a:avLst/>
              <a:gdLst/>
              <a:ahLst/>
              <a:cxnLst/>
              <a:rect r="r" b="b" t="t" l="l"/>
              <a:pathLst>
                <a:path h="2385306" w="7147620">
                  <a:moveTo>
                    <a:pt x="39800" y="0"/>
                  </a:moveTo>
                  <a:lnTo>
                    <a:pt x="7107820" y="0"/>
                  </a:lnTo>
                  <a:cubicBezTo>
                    <a:pt x="7118375" y="0"/>
                    <a:pt x="7128498" y="4193"/>
                    <a:pt x="7135962" y="11657"/>
                  </a:cubicBezTo>
                  <a:cubicBezTo>
                    <a:pt x="7143426" y="19121"/>
                    <a:pt x="7147620" y="29244"/>
                    <a:pt x="7147620" y="39800"/>
                  </a:cubicBezTo>
                  <a:lnTo>
                    <a:pt x="7147620" y="2345505"/>
                  </a:lnTo>
                  <a:cubicBezTo>
                    <a:pt x="7147620" y="2356061"/>
                    <a:pt x="7143426" y="2366184"/>
                    <a:pt x="7135962" y="2373648"/>
                  </a:cubicBezTo>
                  <a:cubicBezTo>
                    <a:pt x="7128498" y="2381112"/>
                    <a:pt x="7118375" y="2385306"/>
                    <a:pt x="7107820" y="2385306"/>
                  </a:cubicBezTo>
                  <a:lnTo>
                    <a:pt x="39800" y="2385306"/>
                  </a:lnTo>
                  <a:cubicBezTo>
                    <a:pt x="17819" y="2385306"/>
                    <a:pt x="0" y="2367486"/>
                    <a:pt x="0" y="2345505"/>
                  </a:cubicBezTo>
                  <a:lnTo>
                    <a:pt x="0" y="39800"/>
                  </a:lnTo>
                  <a:cubicBezTo>
                    <a:pt x="0" y="29244"/>
                    <a:pt x="4193" y="19121"/>
                    <a:pt x="11657" y="11657"/>
                  </a:cubicBezTo>
                  <a:cubicBezTo>
                    <a:pt x="19121" y="4193"/>
                    <a:pt x="29244" y="0"/>
                    <a:pt x="398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7147620" cy="2413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PREPROCESSING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33128" y="3261397"/>
            <a:ext cx="7974183" cy="5144207"/>
            <a:chOff x="0" y="0"/>
            <a:chExt cx="18313113" cy="118139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313113" cy="11813932"/>
            </a:xfrm>
            <a:custGeom>
              <a:avLst/>
              <a:gdLst/>
              <a:ahLst/>
              <a:cxnLst/>
              <a:rect r="r" b="b" t="t" l="l"/>
              <a:pathLst>
                <a:path h="11813932" w="18313113">
                  <a:moveTo>
                    <a:pt x="49515" y="0"/>
                  </a:moveTo>
                  <a:lnTo>
                    <a:pt x="18263598" y="0"/>
                  </a:lnTo>
                  <a:cubicBezTo>
                    <a:pt x="18290946" y="0"/>
                    <a:pt x="18313113" y="22168"/>
                    <a:pt x="18313113" y="49515"/>
                  </a:cubicBezTo>
                  <a:lnTo>
                    <a:pt x="18313113" y="11764417"/>
                  </a:lnTo>
                  <a:cubicBezTo>
                    <a:pt x="18313113" y="11791763"/>
                    <a:pt x="18290946" y="11813932"/>
                    <a:pt x="18263598" y="11813932"/>
                  </a:cubicBezTo>
                  <a:lnTo>
                    <a:pt x="49515" y="11813932"/>
                  </a:lnTo>
                  <a:cubicBezTo>
                    <a:pt x="22168" y="11813932"/>
                    <a:pt x="0" y="11791763"/>
                    <a:pt x="0" y="11764417"/>
                  </a:cubicBezTo>
                  <a:lnTo>
                    <a:pt x="0" y="49515"/>
                  </a:lnTo>
                  <a:cubicBezTo>
                    <a:pt x="0" y="22168"/>
                    <a:pt x="22168" y="0"/>
                    <a:pt x="4951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18313113" cy="11804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189117" y="3574316"/>
            <a:ext cx="6887221" cy="631460"/>
            <a:chOff x="0" y="0"/>
            <a:chExt cx="9182962" cy="8419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41947" cy="841947"/>
            </a:xfrm>
            <a:custGeom>
              <a:avLst/>
              <a:gdLst/>
              <a:ahLst/>
              <a:cxnLst/>
              <a:rect r="r" b="b" t="t" l="l"/>
              <a:pathLst>
                <a:path h="841947" w="841947">
                  <a:moveTo>
                    <a:pt x="0" y="0"/>
                  </a:moveTo>
                  <a:lnTo>
                    <a:pt x="841947" y="0"/>
                  </a:lnTo>
                  <a:lnTo>
                    <a:pt x="841947" y="841947"/>
                  </a:lnTo>
                  <a:lnTo>
                    <a:pt x="0" y="841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 rot="0">
              <a:off x="1195694" y="112999"/>
              <a:ext cx="7987267" cy="587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Lower Case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189117" y="4553033"/>
            <a:ext cx="6791885" cy="843073"/>
            <a:chOff x="0" y="0"/>
            <a:chExt cx="9055846" cy="112409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41947" cy="841947"/>
            </a:xfrm>
            <a:custGeom>
              <a:avLst/>
              <a:gdLst/>
              <a:ahLst/>
              <a:cxnLst/>
              <a:rect r="r" b="b" t="t" l="l"/>
              <a:pathLst>
                <a:path h="841947" w="841947">
                  <a:moveTo>
                    <a:pt x="0" y="0"/>
                  </a:moveTo>
                  <a:lnTo>
                    <a:pt x="841947" y="0"/>
                  </a:lnTo>
                  <a:lnTo>
                    <a:pt x="841947" y="841947"/>
                  </a:lnTo>
                  <a:lnTo>
                    <a:pt x="0" y="841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1195694" y="-13816"/>
              <a:ext cx="7860152" cy="1137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6"/>
                </a:lnSpc>
              </a:pPr>
              <a:r>
                <a:rPr lang="en-US" sz="2755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Strip punctuation &amp; special chars</a:t>
              </a:r>
            </a:p>
            <a:p>
              <a:pPr algn="l">
                <a:lnSpc>
                  <a:spcPts val="3306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189117" y="5143500"/>
            <a:ext cx="6887221" cy="1257168"/>
            <a:chOff x="0" y="0"/>
            <a:chExt cx="9182962" cy="16762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417138"/>
              <a:ext cx="841947" cy="841947"/>
            </a:xfrm>
            <a:custGeom>
              <a:avLst/>
              <a:gdLst/>
              <a:ahLst/>
              <a:cxnLst/>
              <a:rect r="r" b="b" t="t" l="l"/>
              <a:pathLst>
                <a:path h="841947" w="841947">
                  <a:moveTo>
                    <a:pt x="0" y="0"/>
                  </a:moveTo>
                  <a:lnTo>
                    <a:pt x="841947" y="0"/>
                  </a:lnTo>
                  <a:lnTo>
                    <a:pt x="841947" y="841947"/>
                  </a:lnTo>
                  <a:lnTo>
                    <a:pt x="0" y="841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1195694" y="-28663"/>
              <a:ext cx="7987267" cy="1704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</a:p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Whitespace normalisation</a:t>
              </a:r>
            </a:p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189117" y="6149997"/>
            <a:ext cx="6887221" cy="1257168"/>
            <a:chOff x="0" y="0"/>
            <a:chExt cx="9182962" cy="16762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417138"/>
              <a:ext cx="841947" cy="841947"/>
            </a:xfrm>
            <a:custGeom>
              <a:avLst/>
              <a:gdLst/>
              <a:ahLst/>
              <a:cxnLst/>
              <a:rect r="r" b="b" t="t" l="l"/>
              <a:pathLst>
                <a:path h="841947" w="841947">
                  <a:moveTo>
                    <a:pt x="0" y="0"/>
                  </a:moveTo>
                  <a:lnTo>
                    <a:pt x="841947" y="0"/>
                  </a:lnTo>
                  <a:lnTo>
                    <a:pt x="841947" y="841947"/>
                  </a:lnTo>
                  <a:lnTo>
                    <a:pt x="0" y="841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 rot="0">
              <a:off x="1195694" y="-28663"/>
              <a:ext cx="7987267" cy="1704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</a:p>
            <a:p>
              <a:pPr algn="l">
                <a:lnSpc>
                  <a:spcPts val="3360"/>
                </a:lnSpc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Whitespace tokenisation</a:t>
              </a:r>
            </a:p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189117" y="7461290"/>
            <a:ext cx="6887221" cy="631460"/>
            <a:chOff x="0" y="0"/>
            <a:chExt cx="9182962" cy="84194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41947" cy="841947"/>
            </a:xfrm>
            <a:custGeom>
              <a:avLst/>
              <a:gdLst/>
              <a:ahLst/>
              <a:cxnLst/>
              <a:rect r="r" b="b" t="t" l="l"/>
              <a:pathLst>
                <a:path h="841947" w="841947">
                  <a:moveTo>
                    <a:pt x="0" y="0"/>
                  </a:moveTo>
                  <a:lnTo>
                    <a:pt x="841947" y="0"/>
                  </a:lnTo>
                  <a:lnTo>
                    <a:pt x="841947" y="841947"/>
                  </a:lnTo>
                  <a:lnTo>
                    <a:pt x="0" y="841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 rot="0">
              <a:off x="1195694" y="112999"/>
              <a:ext cx="7987267" cy="587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Stop-words KEPT </a:t>
              </a:r>
            </a:p>
          </p:txBody>
        </p:sp>
      </p:grpSp>
    </p:spTree>
  </p:cSld>
  <p:clrMapOvr>
    <a:masterClrMapping/>
  </p:clrMapOvr>
  <p:transition spd="fast">
    <p:cover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3801" y="2782897"/>
            <a:ext cx="10209977" cy="6673656"/>
            <a:chOff x="0" y="0"/>
            <a:chExt cx="23447729" cy="153263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47728" cy="15326389"/>
            </a:xfrm>
            <a:custGeom>
              <a:avLst/>
              <a:gdLst/>
              <a:ahLst/>
              <a:cxnLst/>
              <a:rect r="r" b="b" t="t" l="l"/>
              <a:pathLst>
                <a:path h="15326389" w="23447728">
                  <a:moveTo>
                    <a:pt x="38672" y="0"/>
                  </a:moveTo>
                  <a:lnTo>
                    <a:pt x="23409056" y="0"/>
                  </a:lnTo>
                  <a:cubicBezTo>
                    <a:pt x="23419313" y="0"/>
                    <a:pt x="23429150" y="4074"/>
                    <a:pt x="23436402" y="11327"/>
                  </a:cubicBezTo>
                  <a:cubicBezTo>
                    <a:pt x="23443654" y="18579"/>
                    <a:pt x="23447728" y="28415"/>
                    <a:pt x="23447728" y="38672"/>
                  </a:cubicBezTo>
                  <a:lnTo>
                    <a:pt x="23447728" y="15287716"/>
                  </a:lnTo>
                  <a:cubicBezTo>
                    <a:pt x="23447728" y="15309075"/>
                    <a:pt x="23430415" y="15326389"/>
                    <a:pt x="23409056" y="15326389"/>
                  </a:cubicBezTo>
                  <a:lnTo>
                    <a:pt x="38672" y="15326389"/>
                  </a:lnTo>
                  <a:cubicBezTo>
                    <a:pt x="28415" y="15326389"/>
                    <a:pt x="18579" y="15322314"/>
                    <a:pt x="11327" y="15315062"/>
                  </a:cubicBezTo>
                  <a:cubicBezTo>
                    <a:pt x="4074" y="15307810"/>
                    <a:pt x="0" y="15297973"/>
                    <a:pt x="0" y="15287716"/>
                  </a:cubicBezTo>
                  <a:lnTo>
                    <a:pt x="0" y="38672"/>
                  </a:lnTo>
                  <a:cubicBezTo>
                    <a:pt x="0" y="28415"/>
                    <a:pt x="4074" y="18579"/>
                    <a:pt x="11327" y="11327"/>
                  </a:cubicBezTo>
                  <a:cubicBezTo>
                    <a:pt x="18579" y="4074"/>
                    <a:pt x="28415" y="0"/>
                    <a:pt x="3867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3447729" cy="15316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89088" y="573921"/>
            <a:ext cx="10309824" cy="1298247"/>
            <a:chOff x="0" y="0"/>
            <a:chExt cx="23677031" cy="29814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77031" cy="2981490"/>
            </a:xfrm>
            <a:custGeom>
              <a:avLst/>
              <a:gdLst/>
              <a:ahLst/>
              <a:cxnLst/>
              <a:rect r="r" b="b" t="t" l="l"/>
              <a:pathLst>
                <a:path h="2981490" w="23677031">
                  <a:moveTo>
                    <a:pt x="38297" y="0"/>
                  </a:moveTo>
                  <a:lnTo>
                    <a:pt x="23638734" y="0"/>
                  </a:lnTo>
                  <a:cubicBezTo>
                    <a:pt x="23659885" y="0"/>
                    <a:pt x="23677031" y="17146"/>
                    <a:pt x="23677031" y="38297"/>
                  </a:cubicBezTo>
                  <a:lnTo>
                    <a:pt x="23677031" y="2943192"/>
                  </a:lnTo>
                  <a:cubicBezTo>
                    <a:pt x="23677031" y="2953349"/>
                    <a:pt x="23672995" y="2963090"/>
                    <a:pt x="23665814" y="2970273"/>
                  </a:cubicBezTo>
                  <a:cubicBezTo>
                    <a:pt x="23658632" y="2977455"/>
                    <a:pt x="23648890" y="2981490"/>
                    <a:pt x="23638734" y="2981490"/>
                  </a:cubicBezTo>
                  <a:lnTo>
                    <a:pt x="38297" y="2981490"/>
                  </a:lnTo>
                  <a:cubicBezTo>
                    <a:pt x="28140" y="2981490"/>
                    <a:pt x="18399" y="2977455"/>
                    <a:pt x="11217" y="2970273"/>
                  </a:cubicBezTo>
                  <a:cubicBezTo>
                    <a:pt x="4035" y="2963090"/>
                    <a:pt x="0" y="2953349"/>
                    <a:pt x="0" y="2943192"/>
                  </a:cubicBezTo>
                  <a:lnTo>
                    <a:pt x="0" y="38297"/>
                  </a:lnTo>
                  <a:cubicBezTo>
                    <a:pt x="0" y="17146"/>
                    <a:pt x="17146" y="0"/>
                    <a:pt x="38297" y="0"/>
                  </a:cubicBezTo>
                  <a:close/>
                </a:path>
              </a:pathLst>
            </a:custGeom>
            <a:solidFill>
              <a:srgbClr val="A6D9F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3677031" cy="2971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38597" y="2863422"/>
            <a:ext cx="6949476" cy="6512607"/>
            <a:chOff x="0" y="0"/>
            <a:chExt cx="15959824" cy="14956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959824" cy="14956530"/>
            </a:xfrm>
            <a:custGeom>
              <a:avLst/>
              <a:gdLst/>
              <a:ahLst/>
              <a:cxnLst/>
              <a:rect r="r" b="b" t="t" l="l"/>
              <a:pathLst>
                <a:path h="14956530" w="15959824">
                  <a:moveTo>
                    <a:pt x="56815" y="0"/>
                  </a:moveTo>
                  <a:lnTo>
                    <a:pt x="15903009" y="0"/>
                  </a:lnTo>
                  <a:cubicBezTo>
                    <a:pt x="15918078" y="0"/>
                    <a:pt x="15932528" y="5986"/>
                    <a:pt x="15943183" y="16641"/>
                  </a:cubicBezTo>
                  <a:cubicBezTo>
                    <a:pt x="15953839" y="27296"/>
                    <a:pt x="15959824" y="41747"/>
                    <a:pt x="15959824" y="56815"/>
                  </a:cubicBezTo>
                  <a:lnTo>
                    <a:pt x="15959824" y="14899715"/>
                  </a:lnTo>
                  <a:cubicBezTo>
                    <a:pt x="15959824" y="14914784"/>
                    <a:pt x="15953839" y="14929234"/>
                    <a:pt x="15943183" y="14939890"/>
                  </a:cubicBezTo>
                  <a:cubicBezTo>
                    <a:pt x="15932528" y="14950545"/>
                    <a:pt x="15918078" y="14956530"/>
                    <a:pt x="15903009" y="14956530"/>
                  </a:cubicBezTo>
                  <a:lnTo>
                    <a:pt x="56815" y="14956530"/>
                  </a:lnTo>
                  <a:cubicBezTo>
                    <a:pt x="41747" y="14956530"/>
                    <a:pt x="27296" y="14950545"/>
                    <a:pt x="16641" y="14939890"/>
                  </a:cubicBezTo>
                  <a:cubicBezTo>
                    <a:pt x="5986" y="14929234"/>
                    <a:pt x="0" y="14914784"/>
                    <a:pt x="0" y="14899715"/>
                  </a:cubicBezTo>
                  <a:lnTo>
                    <a:pt x="0" y="56815"/>
                  </a:lnTo>
                  <a:cubicBezTo>
                    <a:pt x="0" y="41747"/>
                    <a:pt x="5986" y="27296"/>
                    <a:pt x="16641" y="16641"/>
                  </a:cubicBezTo>
                  <a:cubicBezTo>
                    <a:pt x="27296" y="5986"/>
                    <a:pt x="41747" y="0"/>
                    <a:pt x="56815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5959824" cy="14947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82512" y="3261044"/>
            <a:ext cx="5861646" cy="1489559"/>
            <a:chOff x="0" y="0"/>
            <a:chExt cx="13461567" cy="34208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61567" cy="3420848"/>
            </a:xfrm>
            <a:custGeom>
              <a:avLst/>
              <a:gdLst/>
              <a:ahLst/>
              <a:cxnLst/>
              <a:rect r="r" b="b" t="t" l="l"/>
              <a:pathLst>
                <a:path h="3420848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353488"/>
                  </a:lnTo>
                  <a:cubicBezTo>
                    <a:pt x="13461567" y="3371353"/>
                    <a:pt x="13454470" y="3388486"/>
                    <a:pt x="13441838" y="3401119"/>
                  </a:cubicBezTo>
                  <a:cubicBezTo>
                    <a:pt x="13429207" y="3413751"/>
                    <a:pt x="13412073" y="3420848"/>
                    <a:pt x="13394207" y="3420848"/>
                  </a:cubicBezTo>
                  <a:lnTo>
                    <a:pt x="67360" y="3420848"/>
                  </a:lnTo>
                  <a:cubicBezTo>
                    <a:pt x="49495" y="3420848"/>
                    <a:pt x="32362" y="3413751"/>
                    <a:pt x="19729" y="3401119"/>
                  </a:cubicBezTo>
                  <a:cubicBezTo>
                    <a:pt x="7097" y="3388486"/>
                    <a:pt x="0" y="3371353"/>
                    <a:pt x="0" y="3353488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3461567" cy="3439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Best Model</a:t>
              </a:r>
            </a:p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trike="noStrike" u="non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Gradient Boost</a:t>
              </a:r>
            </a:p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TF-IDF features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82512" y="5264953"/>
            <a:ext cx="5861646" cy="1489559"/>
            <a:chOff x="0" y="0"/>
            <a:chExt cx="13461567" cy="34208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61567" cy="3420848"/>
            </a:xfrm>
            <a:custGeom>
              <a:avLst/>
              <a:gdLst/>
              <a:ahLst/>
              <a:cxnLst/>
              <a:rect r="r" b="b" t="t" l="l"/>
              <a:pathLst>
                <a:path h="3420848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353488"/>
                  </a:lnTo>
                  <a:cubicBezTo>
                    <a:pt x="13461567" y="3371353"/>
                    <a:pt x="13454470" y="3388486"/>
                    <a:pt x="13441838" y="3401119"/>
                  </a:cubicBezTo>
                  <a:cubicBezTo>
                    <a:pt x="13429207" y="3413751"/>
                    <a:pt x="13412073" y="3420848"/>
                    <a:pt x="13394207" y="3420848"/>
                  </a:cubicBezTo>
                  <a:lnTo>
                    <a:pt x="67360" y="3420848"/>
                  </a:lnTo>
                  <a:cubicBezTo>
                    <a:pt x="49495" y="3420848"/>
                    <a:pt x="32362" y="3413751"/>
                    <a:pt x="19729" y="3401119"/>
                  </a:cubicBezTo>
                  <a:cubicBezTo>
                    <a:pt x="7097" y="3388486"/>
                    <a:pt x="0" y="3371353"/>
                    <a:pt x="0" y="3353488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3461567" cy="3439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Accuracy</a:t>
              </a:r>
            </a:p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trike="noStrike" u="non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41.1%</a:t>
              </a:r>
            </a:p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on held-out test set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82512" y="7268862"/>
            <a:ext cx="5861646" cy="1489559"/>
            <a:chOff x="0" y="0"/>
            <a:chExt cx="13461567" cy="34208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61567" cy="3420848"/>
            </a:xfrm>
            <a:custGeom>
              <a:avLst/>
              <a:gdLst/>
              <a:ahLst/>
              <a:cxnLst/>
              <a:rect r="r" b="b" t="t" l="l"/>
              <a:pathLst>
                <a:path h="3420848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353488"/>
                  </a:lnTo>
                  <a:cubicBezTo>
                    <a:pt x="13461567" y="3371353"/>
                    <a:pt x="13454470" y="3388486"/>
                    <a:pt x="13441838" y="3401119"/>
                  </a:cubicBezTo>
                  <a:cubicBezTo>
                    <a:pt x="13429207" y="3413751"/>
                    <a:pt x="13412073" y="3420848"/>
                    <a:pt x="13394207" y="3420848"/>
                  </a:cubicBezTo>
                  <a:lnTo>
                    <a:pt x="67360" y="3420848"/>
                  </a:lnTo>
                  <a:cubicBezTo>
                    <a:pt x="49495" y="3420848"/>
                    <a:pt x="32362" y="3413751"/>
                    <a:pt x="19729" y="3401119"/>
                  </a:cubicBezTo>
                  <a:cubicBezTo>
                    <a:pt x="7097" y="3388486"/>
                    <a:pt x="0" y="3371353"/>
                    <a:pt x="0" y="3353488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3461567" cy="3439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Inference</a:t>
              </a:r>
            </a:p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800" strike="noStrike" u="non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&lt; 1 ms</a:t>
              </a:r>
            </a:p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end to end latency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28700" y="3327540"/>
            <a:ext cx="8571359" cy="5584370"/>
          </a:xfrm>
          <a:custGeom>
            <a:avLst/>
            <a:gdLst/>
            <a:ahLst/>
            <a:cxnLst/>
            <a:rect r="r" b="b" t="t" l="l"/>
            <a:pathLst>
              <a:path h="5584370" w="8571359">
                <a:moveTo>
                  <a:pt x="0" y="0"/>
                </a:moveTo>
                <a:lnTo>
                  <a:pt x="8571359" y="0"/>
                </a:lnTo>
                <a:lnTo>
                  <a:pt x="8571359" y="5584370"/>
                </a:lnTo>
                <a:lnTo>
                  <a:pt x="0" y="5584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327213" y="828876"/>
            <a:ext cx="9909970" cy="71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8"/>
              </a:lnSpc>
              <a:spcBef>
                <a:spcPct val="0"/>
              </a:spcBef>
            </a:pPr>
            <a:r>
              <a:rPr lang="en-US" b="true" sz="4213">
                <a:solidFill>
                  <a:srgbClr val="000000"/>
                </a:solidFill>
                <a:latin typeface="Anek Devanagari SemiExpanded Bold"/>
                <a:ea typeface="Anek Devanagari SemiExpanded Bold"/>
                <a:cs typeface="Anek Devanagari SemiExpanded Bold"/>
                <a:sym typeface="Anek Devanagari SemiExpanded Bold"/>
              </a:rPr>
              <a:t>MODEL TRAINING AND EVALUATION</a:t>
            </a:r>
          </a:p>
        </p:txBody>
      </p:sp>
    </p:spTree>
  </p:cSld>
  <p:clrMapOvr>
    <a:masterClrMapping/>
  </p:clrMapOvr>
  <p:transition spd="fast">
    <p:cover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89088" y="573921"/>
            <a:ext cx="10309824" cy="1298247"/>
            <a:chOff x="0" y="0"/>
            <a:chExt cx="23677031" cy="298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7031" cy="2981490"/>
            </a:xfrm>
            <a:custGeom>
              <a:avLst/>
              <a:gdLst/>
              <a:ahLst/>
              <a:cxnLst/>
              <a:rect r="r" b="b" t="t" l="l"/>
              <a:pathLst>
                <a:path h="2981490" w="23677031">
                  <a:moveTo>
                    <a:pt x="38297" y="0"/>
                  </a:moveTo>
                  <a:lnTo>
                    <a:pt x="23638734" y="0"/>
                  </a:lnTo>
                  <a:cubicBezTo>
                    <a:pt x="23659885" y="0"/>
                    <a:pt x="23677031" y="17146"/>
                    <a:pt x="23677031" y="38297"/>
                  </a:cubicBezTo>
                  <a:lnTo>
                    <a:pt x="23677031" y="2943192"/>
                  </a:lnTo>
                  <a:cubicBezTo>
                    <a:pt x="23677031" y="2953349"/>
                    <a:pt x="23672995" y="2963090"/>
                    <a:pt x="23665814" y="2970273"/>
                  </a:cubicBezTo>
                  <a:cubicBezTo>
                    <a:pt x="23658632" y="2977455"/>
                    <a:pt x="23648890" y="2981490"/>
                    <a:pt x="23638734" y="2981490"/>
                  </a:cubicBezTo>
                  <a:lnTo>
                    <a:pt x="38297" y="2981490"/>
                  </a:lnTo>
                  <a:cubicBezTo>
                    <a:pt x="28140" y="2981490"/>
                    <a:pt x="18399" y="2977455"/>
                    <a:pt x="11217" y="2970273"/>
                  </a:cubicBezTo>
                  <a:cubicBezTo>
                    <a:pt x="4035" y="2963090"/>
                    <a:pt x="0" y="2953349"/>
                    <a:pt x="0" y="2943192"/>
                  </a:cubicBezTo>
                  <a:lnTo>
                    <a:pt x="0" y="38297"/>
                  </a:lnTo>
                  <a:cubicBezTo>
                    <a:pt x="0" y="17146"/>
                    <a:pt x="17146" y="0"/>
                    <a:pt x="38297" y="0"/>
                  </a:cubicBezTo>
                  <a:close/>
                </a:path>
              </a:pathLst>
            </a:custGeom>
            <a:solidFill>
              <a:srgbClr val="A6D9F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3677031" cy="2971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3077536"/>
            <a:ext cx="10091719" cy="6259390"/>
          </a:xfrm>
          <a:custGeom>
            <a:avLst/>
            <a:gdLst/>
            <a:ahLst/>
            <a:cxnLst/>
            <a:rect r="r" b="b" t="t" l="l"/>
            <a:pathLst>
              <a:path h="6259390" w="10091719">
                <a:moveTo>
                  <a:pt x="0" y="0"/>
                </a:moveTo>
                <a:lnTo>
                  <a:pt x="10091719" y="0"/>
                </a:lnTo>
                <a:lnTo>
                  <a:pt x="10091719" y="6259390"/>
                </a:lnTo>
                <a:lnTo>
                  <a:pt x="0" y="6259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88" t="0" r="-428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27213" y="828876"/>
            <a:ext cx="9909970" cy="71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8"/>
              </a:lnSpc>
              <a:spcBef>
                <a:spcPct val="0"/>
              </a:spcBef>
            </a:pPr>
            <a:r>
              <a:rPr lang="en-US" b="true" sz="4213">
                <a:solidFill>
                  <a:srgbClr val="000000"/>
                </a:solidFill>
                <a:latin typeface="Anek Devanagari SemiExpanded Bold"/>
                <a:ea typeface="Anek Devanagari SemiExpanded Bold"/>
                <a:cs typeface="Anek Devanagari SemiExpanded Bold"/>
                <a:sym typeface="Anek Devanagari SemiExpanded Bold"/>
              </a:rPr>
              <a:t>FEATURE CORRELATION HEATMAP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091719" y="1872168"/>
            <a:ext cx="8196281" cy="8352869"/>
            <a:chOff x="0" y="0"/>
            <a:chExt cx="18823172" cy="191827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23172" cy="19182786"/>
            </a:xfrm>
            <a:custGeom>
              <a:avLst/>
              <a:gdLst/>
              <a:ahLst/>
              <a:cxnLst/>
              <a:rect r="r" b="b" t="t" l="l"/>
              <a:pathLst>
                <a:path h="19182786" w="18823172">
                  <a:moveTo>
                    <a:pt x="15113" y="0"/>
                  </a:moveTo>
                  <a:lnTo>
                    <a:pt x="18808060" y="0"/>
                  </a:lnTo>
                  <a:cubicBezTo>
                    <a:pt x="18812067" y="0"/>
                    <a:pt x="18815912" y="1592"/>
                    <a:pt x="18818746" y="4427"/>
                  </a:cubicBezTo>
                  <a:cubicBezTo>
                    <a:pt x="18821580" y="7261"/>
                    <a:pt x="18823172" y="11105"/>
                    <a:pt x="18823172" y="15113"/>
                  </a:cubicBezTo>
                  <a:lnTo>
                    <a:pt x="18823172" y="19167673"/>
                  </a:lnTo>
                  <a:cubicBezTo>
                    <a:pt x="18823172" y="19171681"/>
                    <a:pt x="18821580" y="19175526"/>
                    <a:pt x="18818746" y="19178360"/>
                  </a:cubicBezTo>
                  <a:cubicBezTo>
                    <a:pt x="18815912" y="19181194"/>
                    <a:pt x="18812067" y="19182786"/>
                    <a:pt x="18808060" y="19182786"/>
                  </a:cubicBezTo>
                  <a:lnTo>
                    <a:pt x="15113" y="19182786"/>
                  </a:lnTo>
                  <a:cubicBezTo>
                    <a:pt x="11105" y="19182786"/>
                    <a:pt x="7261" y="19181194"/>
                    <a:pt x="4427" y="19178360"/>
                  </a:cubicBezTo>
                  <a:cubicBezTo>
                    <a:pt x="1592" y="19175526"/>
                    <a:pt x="0" y="19171681"/>
                    <a:pt x="0" y="19167673"/>
                  </a:cubicBezTo>
                  <a:lnTo>
                    <a:pt x="0" y="15113"/>
                  </a:lnTo>
                  <a:cubicBezTo>
                    <a:pt x="0" y="11105"/>
                    <a:pt x="1592" y="7261"/>
                    <a:pt x="4427" y="4427"/>
                  </a:cubicBezTo>
                  <a:cubicBezTo>
                    <a:pt x="7261" y="1592"/>
                    <a:pt x="11105" y="0"/>
                    <a:pt x="151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8823172" cy="19173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964" y="8978604"/>
            <a:ext cx="7865449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Insight</a:t>
            </a: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Vocabulary split reflects domain: tutoring terms vs. casual filler words</a:t>
            </a:r>
          </a:p>
          <a:p>
            <a:pPr algn="l">
              <a:lnSpc>
                <a:spcPts val="3157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964" y="7239000"/>
            <a:ext cx="8665869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Sparse Off-diagonal</a:t>
            </a: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Most off-diagonal values ≈ 0 → low multicollinearity; TF-IDF features are well-separated.</a:t>
            </a:r>
          </a:p>
          <a:p>
            <a:pPr algn="l">
              <a:lnSpc>
                <a:spcPts val="315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964" y="5816304"/>
            <a:ext cx="8021896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Booster Isolation</a:t>
            </a: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"classification", "regression", "model" are largely independent of hedges</a:t>
            </a:r>
          </a:p>
          <a:p>
            <a:pPr algn="l">
              <a:lnSpc>
                <a:spcPts val="315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66104" y="4429352"/>
            <a:ext cx="7887308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Hedge Cluster</a:t>
            </a: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"think", "maybe", "know" show mild positive correlation — co-occur in uncertain utterances</a:t>
            </a:r>
          </a:p>
          <a:p>
            <a:pPr algn="l">
              <a:lnSpc>
                <a:spcPts val="315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66104" y="3088734"/>
            <a:ext cx="7887308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Diagonal Dominance</a:t>
            </a: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Perfect self-correlation (1.0) on diagonal — confirms no feature duplication</a:t>
            </a:r>
          </a:p>
          <a:p>
            <a:pPr algn="l">
              <a:lnSpc>
                <a:spcPts val="3157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1488398" y="2035100"/>
            <a:ext cx="5402923" cy="909751"/>
            <a:chOff x="0" y="0"/>
            <a:chExt cx="12408085" cy="20892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08084" cy="2089290"/>
            </a:xfrm>
            <a:custGeom>
              <a:avLst/>
              <a:gdLst/>
              <a:ahLst/>
              <a:cxnLst/>
              <a:rect r="r" b="b" t="t" l="l"/>
              <a:pathLst>
                <a:path h="2089290" w="12408084">
                  <a:moveTo>
                    <a:pt x="22927" y="0"/>
                  </a:moveTo>
                  <a:lnTo>
                    <a:pt x="12385158" y="0"/>
                  </a:lnTo>
                  <a:cubicBezTo>
                    <a:pt x="12391238" y="0"/>
                    <a:pt x="12397070" y="2415"/>
                    <a:pt x="12401369" y="6715"/>
                  </a:cubicBezTo>
                  <a:cubicBezTo>
                    <a:pt x="12405669" y="11015"/>
                    <a:pt x="12408084" y="16846"/>
                    <a:pt x="12408084" y="22927"/>
                  </a:cubicBezTo>
                  <a:lnTo>
                    <a:pt x="12408084" y="2066363"/>
                  </a:lnTo>
                  <a:cubicBezTo>
                    <a:pt x="12408084" y="2079025"/>
                    <a:pt x="12397820" y="2089290"/>
                    <a:pt x="12385158" y="2089290"/>
                  </a:cubicBezTo>
                  <a:lnTo>
                    <a:pt x="22927" y="2089290"/>
                  </a:lnTo>
                  <a:cubicBezTo>
                    <a:pt x="10265" y="2089290"/>
                    <a:pt x="0" y="2079025"/>
                    <a:pt x="0" y="2066363"/>
                  </a:cubicBezTo>
                  <a:lnTo>
                    <a:pt x="0" y="22927"/>
                  </a:lnTo>
                  <a:cubicBezTo>
                    <a:pt x="0" y="10265"/>
                    <a:pt x="10265" y="0"/>
                    <a:pt x="2292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2408085" cy="2117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Findings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577937"/>
            <a:ext cx="16743525" cy="2709063"/>
            <a:chOff x="0" y="0"/>
            <a:chExt cx="38452351" cy="62215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2351" cy="6221501"/>
            </a:xfrm>
            <a:custGeom>
              <a:avLst/>
              <a:gdLst/>
              <a:ahLst/>
              <a:cxnLst/>
              <a:rect r="r" b="b" t="t" l="l"/>
              <a:pathLst>
                <a:path h="6221501" w="38452351">
                  <a:moveTo>
                    <a:pt x="23582" y="0"/>
                  </a:moveTo>
                  <a:lnTo>
                    <a:pt x="38428771" y="0"/>
                  </a:lnTo>
                  <a:cubicBezTo>
                    <a:pt x="38435025" y="0"/>
                    <a:pt x="38441021" y="2484"/>
                    <a:pt x="38445442" y="6907"/>
                  </a:cubicBezTo>
                  <a:cubicBezTo>
                    <a:pt x="38449867" y="11329"/>
                    <a:pt x="38452351" y="17327"/>
                    <a:pt x="38452351" y="23582"/>
                  </a:cubicBezTo>
                  <a:lnTo>
                    <a:pt x="38452351" y="6197919"/>
                  </a:lnTo>
                  <a:cubicBezTo>
                    <a:pt x="38452351" y="6204174"/>
                    <a:pt x="38449867" y="6210172"/>
                    <a:pt x="38445442" y="6214594"/>
                  </a:cubicBezTo>
                  <a:cubicBezTo>
                    <a:pt x="38441021" y="6219017"/>
                    <a:pt x="38435025" y="6221501"/>
                    <a:pt x="38428771" y="6221501"/>
                  </a:cubicBezTo>
                  <a:lnTo>
                    <a:pt x="23582" y="6221501"/>
                  </a:lnTo>
                  <a:cubicBezTo>
                    <a:pt x="17327" y="6221501"/>
                    <a:pt x="11329" y="6219017"/>
                    <a:pt x="6907" y="6214594"/>
                  </a:cubicBezTo>
                  <a:cubicBezTo>
                    <a:pt x="2484" y="6210172"/>
                    <a:pt x="0" y="6204174"/>
                    <a:pt x="0" y="6197919"/>
                  </a:cubicBezTo>
                  <a:lnTo>
                    <a:pt x="0" y="23582"/>
                  </a:lnTo>
                  <a:cubicBezTo>
                    <a:pt x="0" y="17327"/>
                    <a:pt x="2484" y="11329"/>
                    <a:pt x="6907" y="6907"/>
                  </a:cubicBezTo>
                  <a:cubicBezTo>
                    <a:pt x="11329" y="2484"/>
                    <a:pt x="17327" y="0"/>
                    <a:pt x="235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38452351" cy="6240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0"/>
                </a:lnSpc>
              </a:pPr>
              <a:r>
                <a:rPr lang="en-US" sz="29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Why TF-IDF over RoBERTa</a:t>
              </a:r>
            </a:p>
            <a:p>
              <a:pPr algn="ctr">
                <a:lnSpc>
                  <a:spcPts val="3480"/>
                </a:lnSpc>
              </a:pPr>
            </a:p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RoBERTa adds only +0.018 F1 over TF-IDF at 1,000× the model size and orders-of-magnitude higher inference latency — not worth it for a latency-sensitive web product. TF-IDF + Gradient Boosting runs in &lt;1 ms.</a:t>
              </a:r>
            </a:p>
            <a:p>
              <a:pPr algn="ctr">
                <a:lnSpc>
                  <a:spcPts val="3480"/>
                </a:lnSpc>
              </a:pPr>
            </a:p>
            <a:p>
              <a:pPr algn="ctr" marL="0" indent="0" lvl="0">
                <a:lnSpc>
                  <a:spcPts val="27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36218" y="2214791"/>
            <a:ext cx="13215565" cy="5219963"/>
          </a:xfrm>
          <a:custGeom>
            <a:avLst/>
            <a:gdLst/>
            <a:ahLst/>
            <a:cxnLst/>
            <a:rect r="r" b="b" t="t" l="l"/>
            <a:pathLst>
              <a:path h="5219963" w="13215565">
                <a:moveTo>
                  <a:pt x="0" y="0"/>
                </a:moveTo>
                <a:lnTo>
                  <a:pt x="13215564" y="0"/>
                </a:lnTo>
                <a:lnTo>
                  <a:pt x="13215564" y="5219963"/>
                </a:lnTo>
                <a:lnTo>
                  <a:pt x="0" y="5219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5" r="0" b="-67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36218" y="125413"/>
            <a:ext cx="13201857" cy="68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4"/>
              </a:lnSpc>
              <a:spcBef>
                <a:spcPct val="0"/>
              </a:spcBef>
            </a:pPr>
            <a:r>
              <a:rPr lang="en-US" b="true" sz="3967">
                <a:solidFill>
                  <a:srgbClr val="000000"/>
                </a:solidFill>
                <a:latin typeface="Anek Devanagari SemiExpanded Bold"/>
                <a:ea typeface="Anek Devanagari SemiExpanded Bold"/>
                <a:cs typeface="Anek Devanagari SemiExpanded Bold"/>
                <a:sym typeface="Anek Devanagari SemiExpanded Bold"/>
              </a:rPr>
              <a:t>30-WAY EMBEDDING AND CLASSIFIER EVALUATION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36218" y="1174507"/>
            <a:ext cx="8115300" cy="897101"/>
            <a:chOff x="0" y="0"/>
            <a:chExt cx="18637197" cy="20602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637197" cy="2060239"/>
            </a:xfrm>
            <a:custGeom>
              <a:avLst/>
              <a:gdLst/>
              <a:ahLst/>
              <a:cxnLst/>
              <a:rect r="r" b="b" t="t" l="l"/>
              <a:pathLst>
                <a:path h="2060239" w="18637197">
                  <a:moveTo>
                    <a:pt x="15264" y="0"/>
                  </a:moveTo>
                  <a:lnTo>
                    <a:pt x="18621933" y="0"/>
                  </a:lnTo>
                  <a:cubicBezTo>
                    <a:pt x="18625981" y="0"/>
                    <a:pt x="18629864" y="1608"/>
                    <a:pt x="18632726" y="4471"/>
                  </a:cubicBezTo>
                  <a:cubicBezTo>
                    <a:pt x="18635590" y="7333"/>
                    <a:pt x="18637197" y="11216"/>
                    <a:pt x="18637197" y="15264"/>
                  </a:cubicBezTo>
                  <a:lnTo>
                    <a:pt x="18637197" y="2044975"/>
                  </a:lnTo>
                  <a:cubicBezTo>
                    <a:pt x="18637197" y="2049023"/>
                    <a:pt x="18635590" y="2052905"/>
                    <a:pt x="18632726" y="2055768"/>
                  </a:cubicBezTo>
                  <a:cubicBezTo>
                    <a:pt x="18629864" y="2058630"/>
                    <a:pt x="18625981" y="2060239"/>
                    <a:pt x="18621933" y="2060239"/>
                  </a:cubicBezTo>
                  <a:lnTo>
                    <a:pt x="15264" y="2060239"/>
                  </a:lnTo>
                  <a:cubicBezTo>
                    <a:pt x="11216" y="2060239"/>
                    <a:pt x="7333" y="2058630"/>
                    <a:pt x="4471" y="2055768"/>
                  </a:cubicBezTo>
                  <a:cubicBezTo>
                    <a:pt x="1608" y="2052905"/>
                    <a:pt x="0" y="2049023"/>
                    <a:pt x="0" y="2044975"/>
                  </a:cubicBezTo>
                  <a:lnTo>
                    <a:pt x="0" y="15264"/>
                  </a:lnTo>
                  <a:cubicBezTo>
                    <a:pt x="0" y="11216"/>
                    <a:pt x="1608" y="7333"/>
                    <a:pt x="4471" y="4471"/>
                  </a:cubicBezTo>
                  <a:cubicBezTo>
                    <a:pt x="7333" y="1608"/>
                    <a:pt x="11216" y="0"/>
                    <a:pt x="1526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637197" cy="2088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Top 5 combinations from 3 embeddings and 10 classifiers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89088" y="573921"/>
            <a:ext cx="10309824" cy="1298247"/>
            <a:chOff x="0" y="0"/>
            <a:chExt cx="23677031" cy="298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77031" cy="2981490"/>
            </a:xfrm>
            <a:custGeom>
              <a:avLst/>
              <a:gdLst/>
              <a:ahLst/>
              <a:cxnLst/>
              <a:rect r="r" b="b" t="t" l="l"/>
              <a:pathLst>
                <a:path h="2981490" w="23677031">
                  <a:moveTo>
                    <a:pt x="38297" y="0"/>
                  </a:moveTo>
                  <a:lnTo>
                    <a:pt x="23638734" y="0"/>
                  </a:lnTo>
                  <a:cubicBezTo>
                    <a:pt x="23659885" y="0"/>
                    <a:pt x="23677031" y="17146"/>
                    <a:pt x="23677031" y="38297"/>
                  </a:cubicBezTo>
                  <a:lnTo>
                    <a:pt x="23677031" y="2943192"/>
                  </a:lnTo>
                  <a:cubicBezTo>
                    <a:pt x="23677031" y="2953349"/>
                    <a:pt x="23672995" y="2963090"/>
                    <a:pt x="23665814" y="2970273"/>
                  </a:cubicBezTo>
                  <a:cubicBezTo>
                    <a:pt x="23658632" y="2977455"/>
                    <a:pt x="23648890" y="2981490"/>
                    <a:pt x="23638734" y="2981490"/>
                  </a:cubicBezTo>
                  <a:lnTo>
                    <a:pt x="38297" y="2981490"/>
                  </a:lnTo>
                  <a:cubicBezTo>
                    <a:pt x="28140" y="2981490"/>
                    <a:pt x="18399" y="2977455"/>
                    <a:pt x="11217" y="2970273"/>
                  </a:cubicBezTo>
                  <a:cubicBezTo>
                    <a:pt x="4035" y="2963090"/>
                    <a:pt x="0" y="2953349"/>
                    <a:pt x="0" y="2943192"/>
                  </a:cubicBezTo>
                  <a:lnTo>
                    <a:pt x="0" y="38297"/>
                  </a:lnTo>
                  <a:cubicBezTo>
                    <a:pt x="0" y="17146"/>
                    <a:pt x="17146" y="0"/>
                    <a:pt x="38297" y="0"/>
                  </a:cubicBezTo>
                  <a:close/>
                </a:path>
              </a:pathLst>
            </a:custGeom>
            <a:solidFill>
              <a:srgbClr val="A6D9F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3677031" cy="2971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79142" y="2381399"/>
            <a:ext cx="14716189" cy="3621662"/>
          </a:xfrm>
          <a:custGeom>
            <a:avLst/>
            <a:gdLst/>
            <a:ahLst/>
            <a:cxnLst/>
            <a:rect r="r" b="b" t="t" l="l"/>
            <a:pathLst>
              <a:path h="3621662" w="14716189">
                <a:moveTo>
                  <a:pt x="0" y="0"/>
                </a:moveTo>
                <a:lnTo>
                  <a:pt x="14716189" y="0"/>
                </a:lnTo>
                <a:lnTo>
                  <a:pt x="14716189" y="3621661"/>
                </a:lnTo>
                <a:lnTo>
                  <a:pt x="0" y="36216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01349" y="828876"/>
            <a:ext cx="9909970" cy="71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8"/>
              </a:lnSpc>
              <a:spcBef>
                <a:spcPct val="0"/>
              </a:spcBef>
            </a:pPr>
            <a:r>
              <a:rPr lang="en-US" b="true" sz="4213">
                <a:solidFill>
                  <a:srgbClr val="000000"/>
                </a:solidFill>
                <a:latin typeface="Anek Devanagari SemiExpanded Bold"/>
                <a:ea typeface="Anek Devanagari SemiExpanded Bold"/>
                <a:cs typeface="Anek Devanagari SemiExpanded Bold"/>
                <a:sym typeface="Anek Devanagari SemiExpanded Bold"/>
              </a:rPr>
              <a:t>STACKING CLASSIFIER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9142" y="6843447"/>
            <a:ext cx="14855897" cy="2414853"/>
            <a:chOff x="0" y="0"/>
            <a:chExt cx="34117318" cy="55458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117319" cy="5545833"/>
            </a:xfrm>
            <a:custGeom>
              <a:avLst/>
              <a:gdLst/>
              <a:ahLst/>
              <a:cxnLst/>
              <a:rect r="r" b="b" t="t" l="l"/>
              <a:pathLst>
                <a:path h="5545833" w="34117319">
                  <a:moveTo>
                    <a:pt x="8338" y="0"/>
                  </a:moveTo>
                  <a:lnTo>
                    <a:pt x="34108982" y="0"/>
                  </a:lnTo>
                  <a:cubicBezTo>
                    <a:pt x="34113586" y="0"/>
                    <a:pt x="34117319" y="3733"/>
                    <a:pt x="34117319" y="8338"/>
                  </a:cubicBezTo>
                  <a:lnTo>
                    <a:pt x="34117319" y="5537495"/>
                  </a:lnTo>
                  <a:cubicBezTo>
                    <a:pt x="34117319" y="5542100"/>
                    <a:pt x="34113586" y="5545833"/>
                    <a:pt x="34108982" y="5545833"/>
                  </a:cubicBezTo>
                  <a:lnTo>
                    <a:pt x="8338" y="5545833"/>
                  </a:lnTo>
                  <a:cubicBezTo>
                    <a:pt x="3733" y="5545833"/>
                    <a:pt x="0" y="5542100"/>
                    <a:pt x="0" y="5537495"/>
                  </a:cubicBezTo>
                  <a:lnTo>
                    <a:pt x="0" y="8338"/>
                  </a:lnTo>
                  <a:cubicBezTo>
                    <a:pt x="0" y="3733"/>
                    <a:pt x="3733" y="0"/>
                    <a:pt x="833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4117318" cy="5574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59"/>
                </a:lnSpc>
              </a:pPr>
              <a:r>
                <a:rPr lang="en-US" sz="32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Best stacker</a:t>
              </a:r>
              <a:r>
                <a:rPr lang="en-US" sz="32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: Random Forest (Acc 0.3863, F1 0.3583) </a:t>
              </a:r>
            </a:p>
            <a:p>
              <a:pPr algn="ctr">
                <a:lnSpc>
                  <a:spcPts val="3959"/>
                </a:lnSpc>
              </a:pPr>
              <a:r>
                <a:rPr lang="en-US" sz="32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Note: Decision Tree has highest Precision (0.3815) — best when false positives are costly</a:t>
              </a:r>
              <a:r>
                <a:rPr lang="en-US" sz="3299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.</a:t>
              </a:r>
            </a:p>
            <a:p>
              <a:pPr algn="ctr" marL="0" indent="0" lvl="0">
                <a:lnSpc>
                  <a:spcPts val="39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62504" y="573921"/>
            <a:ext cx="12336408" cy="1298247"/>
            <a:chOff x="0" y="0"/>
            <a:chExt cx="28331185" cy="29814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1185" cy="2981490"/>
            </a:xfrm>
            <a:custGeom>
              <a:avLst/>
              <a:gdLst/>
              <a:ahLst/>
              <a:cxnLst/>
              <a:rect r="r" b="b" t="t" l="l"/>
              <a:pathLst>
                <a:path h="2981490" w="28331185">
                  <a:moveTo>
                    <a:pt x="32006" y="0"/>
                  </a:moveTo>
                  <a:lnTo>
                    <a:pt x="28299178" y="0"/>
                  </a:lnTo>
                  <a:cubicBezTo>
                    <a:pt x="28316855" y="0"/>
                    <a:pt x="28331185" y="14330"/>
                    <a:pt x="28331185" y="32006"/>
                  </a:cubicBezTo>
                  <a:lnTo>
                    <a:pt x="28331185" y="2949484"/>
                  </a:lnTo>
                  <a:cubicBezTo>
                    <a:pt x="28331185" y="2957972"/>
                    <a:pt x="28327812" y="2966113"/>
                    <a:pt x="28321812" y="2972115"/>
                  </a:cubicBezTo>
                  <a:cubicBezTo>
                    <a:pt x="28315810" y="2978117"/>
                    <a:pt x="28307667" y="2981490"/>
                    <a:pt x="28299178" y="2981490"/>
                  </a:cubicBezTo>
                  <a:lnTo>
                    <a:pt x="32006" y="2981490"/>
                  </a:lnTo>
                  <a:cubicBezTo>
                    <a:pt x="23517" y="2981490"/>
                    <a:pt x="15377" y="2978117"/>
                    <a:pt x="9374" y="2972115"/>
                  </a:cubicBezTo>
                  <a:cubicBezTo>
                    <a:pt x="3372" y="2966113"/>
                    <a:pt x="0" y="2957972"/>
                    <a:pt x="0" y="2949484"/>
                  </a:cubicBezTo>
                  <a:lnTo>
                    <a:pt x="0" y="32006"/>
                  </a:lnTo>
                  <a:cubicBezTo>
                    <a:pt x="0" y="23517"/>
                    <a:pt x="3372" y="15377"/>
                    <a:pt x="9374" y="9374"/>
                  </a:cubicBezTo>
                  <a:cubicBezTo>
                    <a:pt x="15377" y="3372"/>
                    <a:pt x="23517" y="0"/>
                    <a:pt x="32006" y="0"/>
                  </a:cubicBezTo>
                  <a:close/>
                </a:path>
              </a:pathLst>
            </a:custGeom>
            <a:solidFill>
              <a:srgbClr val="A6D9F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8331185" cy="2971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91719" y="1872168"/>
            <a:ext cx="8196281" cy="8352869"/>
            <a:chOff x="0" y="0"/>
            <a:chExt cx="18823172" cy="191827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23172" cy="19182786"/>
            </a:xfrm>
            <a:custGeom>
              <a:avLst/>
              <a:gdLst/>
              <a:ahLst/>
              <a:cxnLst/>
              <a:rect r="r" b="b" t="t" l="l"/>
              <a:pathLst>
                <a:path h="19182786" w="18823172">
                  <a:moveTo>
                    <a:pt x="15113" y="0"/>
                  </a:moveTo>
                  <a:lnTo>
                    <a:pt x="18808060" y="0"/>
                  </a:lnTo>
                  <a:cubicBezTo>
                    <a:pt x="18812067" y="0"/>
                    <a:pt x="18815912" y="1592"/>
                    <a:pt x="18818746" y="4427"/>
                  </a:cubicBezTo>
                  <a:cubicBezTo>
                    <a:pt x="18821580" y="7261"/>
                    <a:pt x="18823172" y="11105"/>
                    <a:pt x="18823172" y="15113"/>
                  </a:cubicBezTo>
                  <a:lnTo>
                    <a:pt x="18823172" y="19167673"/>
                  </a:lnTo>
                  <a:cubicBezTo>
                    <a:pt x="18823172" y="19171681"/>
                    <a:pt x="18821580" y="19175526"/>
                    <a:pt x="18818746" y="19178360"/>
                  </a:cubicBezTo>
                  <a:cubicBezTo>
                    <a:pt x="18815912" y="19181194"/>
                    <a:pt x="18812067" y="19182786"/>
                    <a:pt x="18808060" y="19182786"/>
                  </a:cubicBezTo>
                  <a:lnTo>
                    <a:pt x="15113" y="19182786"/>
                  </a:lnTo>
                  <a:cubicBezTo>
                    <a:pt x="11105" y="19182786"/>
                    <a:pt x="7261" y="19181194"/>
                    <a:pt x="4427" y="19178360"/>
                  </a:cubicBezTo>
                  <a:cubicBezTo>
                    <a:pt x="1592" y="19175526"/>
                    <a:pt x="0" y="19171681"/>
                    <a:pt x="0" y="19167673"/>
                  </a:cubicBezTo>
                  <a:lnTo>
                    <a:pt x="0" y="15113"/>
                  </a:lnTo>
                  <a:cubicBezTo>
                    <a:pt x="0" y="11105"/>
                    <a:pt x="1592" y="7261"/>
                    <a:pt x="4427" y="4427"/>
                  </a:cubicBezTo>
                  <a:cubicBezTo>
                    <a:pt x="7261" y="1592"/>
                    <a:pt x="11105" y="0"/>
                    <a:pt x="151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8823172" cy="19173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88398" y="2035100"/>
            <a:ext cx="5402923" cy="909751"/>
            <a:chOff x="0" y="0"/>
            <a:chExt cx="12408085" cy="20892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08084" cy="2089290"/>
            </a:xfrm>
            <a:custGeom>
              <a:avLst/>
              <a:gdLst/>
              <a:ahLst/>
              <a:cxnLst/>
              <a:rect r="r" b="b" t="t" l="l"/>
              <a:pathLst>
                <a:path h="2089290" w="12408084">
                  <a:moveTo>
                    <a:pt x="22927" y="0"/>
                  </a:moveTo>
                  <a:lnTo>
                    <a:pt x="12385158" y="0"/>
                  </a:lnTo>
                  <a:cubicBezTo>
                    <a:pt x="12391238" y="0"/>
                    <a:pt x="12397070" y="2415"/>
                    <a:pt x="12401369" y="6715"/>
                  </a:cubicBezTo>
                  <a:cubicBezTo>
                    <a:pt x="12405669" y="11015"/>
                    <a:pt x="12408084" y="16846"/>
                    <a:pt x="12408084" y="22927"/>
                  </a:cubicBezTo>
                  <a:lnTo>
                    <a:pt x="12408084" y="2066363"/>
                  </a:lnTo>
                  <a:cubicBezTo>
                    <a:pt x="12408084" y="2079025"/>
                    <a:pt x="12397820" y="2089290"/>
                    <a:pt x="12385158" y="2089290"/>
                  </a:cubicBezTo>
                  <a:lnTo>
                    <a:pt x="22927" y="2089290"/>
                  </a:lnTo>
                  <a:cubicBezTo>
                    <a:pt x="10265" y="2089290"/>
                    <a:pt x="0" y="2079025"/>
                    <a:pt x="0" y="2066363"/>
                  </a:cubicBezTo>
                  <a:lnTo>
                    <a:pt x="0" y="22927"/>
                  </a:lnTo>
                  <a:cubicBezTo>
                    <a:pt x="0" y="10265"/>
                    <a:pt x="10265" y="0"/>
                    <a:pt x="2292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408085" cy="2117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Findings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0" y="3307415"/>
            <a:ext cx="10091719" cy="4700870"/>
          </a:xfrm>
          <a:custGeom>
            <a:avLst/>
            <a:gdLst/>
            <a:ahLst/>
            <a:cxnLst/>
            <a:rect r="r" b="b" t="t" l="l"/>
            <a:pathLst>
              <a:path h="4700870" w="10091719">
                <a:moveTo>
                  <a:pt x="0" y="0"/>
                </a:moveTo>
                <a:lnTo>
                  <a:pt x="10091719" y="0"/>
                </a:lnTo>
                <a:lnTo>
                  <a:pt x="10091719" y="4700870"/>
                </a:lnTo>
                <a:lnTo>
                  <a:pt x="0" y="4700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92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95614" y="880631"/>
            <a:ext cx="11694246" cy="629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8"/>
              </a:lnSpc>
              <a:spcBef>
                <a:spcPct val="0"/>
              </a:spcBef>
            </a:pPr>
            <a:r>
              <a:rPr lang="en-US" b="true" sz="3713">
                <a:solidFill>
                  <a:srgbClr val="000000"/>
                </a:solidFill>
                <a:latin typeface="Anek Devanagari SemiExpanded Bold"/>
                <a:ea typeface="Anek Devanagari SemiExpanded Bold"/>
                <a:cs typeface="Anek Devanagari SemiExpanded Bold"/>
                <a:sym typeface="Anek Devanagari SemiExpanded Bold"/>
              </a:rPr>
              <a:t>PCA - DIMENSIONALITY REDUCTION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04459" y="8667750"/>
            <a:ext cx="7865449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PCA 95% + Gradient Boosting for best accuracy-to-size trade-off.</a:t>
            </a:r>
          </a:p>
          <a:p>
            <a:pPr algn="l">
              <a:lnSpc>
                <a:spcPts val="315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964" y="7239000"/>
            <a:ext cx="8665869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GB trade-off</a:t>
            </a: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Original GB = 0.3624 vs PCA 95% GB = 0.3822 (+0.02) — PCA helps boosting</a:t>
            </a:r>
          </a:p>
          <a:p>
            <a:pPr algn="l">
              <a:lnSpc>
                <a:spcPts val="315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964" y="5816304"/>
            <a:ext cx="8021896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SVM stable</a:t>
            </a: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Linear SVM nearly unchanged under both PCA variants → robust to compression.</a:t>
            </a:r>
          </a:p>
          <a:p>
            <a:pPr algn="l">
              <a:lnSpc>
                <a:spcPts val="315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66104" y="4429352"/>
            <a:ext cx="7887308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NB collapses</a:t>
            </a: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Naive Bayes drops ~2–3% under PCA — dense features hurt probabilistic models.</a:t>
            </a:r>
          </a:p>
          <a:p>
            <a:pPr algn="l">
              <a:lnSpc>
                <a:spcPts val="315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266104" y="3088734"/>
            <a:ext cx="7887308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PCA 95% </a:t>
            </a: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Gradient Boosting: 0.3822 — highest accuracy across all 18 combos.</a:t>
            </a:r>
          </a:p>
          <a:p>
            <a:pPr algn="l">
              <a:lnSpc>
                <a:spcPts val="315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69400"/>
            <a:ext cx="16230600" cy="1046359"/>
            <a:chOff x="0" y="0"/>
            <a:chExt cx="37274393" cy="24030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74395" cy="2403017"/>
            </a:xfrm>
            <a:custGeom>
              <a:avLst/>
              <a:gdLst/>
              <a:ahLst/>
              <a:cxnLst/>
              <a:rect r="r" b="b" t="t" l="l"/>
              <a:pathLst>
                <a:path h="2403017" w="37274395">
                  <a:moveTo>
                    <a:pt x="7155" y="0"/>
                  </a:moveTo>
                  <a:lnTo>
                    <a:pt x="37267238" y="0"/>
                  </a:lnTo>
                  <a:cubicBezTo>
                    <a:pt x="37269136" y="0"/>
                    <a:pt x="37270956" y="754"/>
                    <a:pt x="37272299" y="2096"/>
                  </a:cubicBezTo>
                  <a:cubicBezTo>
                    <a:pt x="37273641" y="3437"/>
                    <a:pt x="37274395" y="5257"/>
                    <a:pt x="37274395" y="7155"/>
                  </a:cubicBezTo>
                  <a:lnTo>
                    <a:pt x="37274395" y="2395862"/>
                  </a:lnTo>
                  <a:cubicBezTo>
                    <a:pt x="37274395" y="2399814"/>
                    <a:pt x="37271192" y="2403017"/>
                    <a:pt x="37267238" y="2403017"/>
                  </a:cubicBezTo>
                  <a:lnTo>
                    <a:pt x="7155" y="2403017"/>
                  </a:lnTo>
                  <a:cubicBezTo>
                    <a:pt x="5257" y="2403017"/>
                    <a:pt x="3437" y="2402263"/>
                    <a:pt x="2096" y="2400921"/>
                  </a:cubicBezTo>
                  <a:cubicBezTo>
                    <a:pt x="754" y="2399580"/>
                    <a:pt x="0" y="2397760"/>
                    <a:pt x="0" y="2395862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37274393" cy="2469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956"/>
                </a:lnSpc>
                <a:spcBef>
                  <a:spcPct val="0"/>
                </a:spcBef>
              </a:pPr>
              <a:r>
                <a:rPr lang="en-US" b="true" sz="3540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Why Gradient Boosting - Not Random Forest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754125"/>
            <a:ext cx="5755335" cy="6376310"/>
            <a:chOff x="0" y="0"/>
            <a:chExt cx="13217417" cy="146435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17416" cy="14643519"/>
            </a:xfrm>
            <a:custGeom>
              <a:avLst/>
              <a:gdLst/>
              <a:ahLst/>
              <a:cxnLst/>
              <a:rect r="r" b="b" t="t" l="l"/>
              <a:pathLst>
                <a:path h="14643519" w="13217416">
                  <a:moveTo>
                    <a:pt x="21523" y="0"/>
                  </a:moveTo>
                  <a:lnTo>
                    <a:pt x="13195894" y="0"/>
                  </a:lnTo>
                  <a:cubicBezTo>
                    <a:pt x="13201602" y="0"/>
                    <a:pt x="13207076" y="2268"/>
                    <a:pt x="13211113" y="6304"/>
                  </a:cubicBezTo>
                  <a:cubicBezTo>
                    <a:pt x="13215148" y="10340"/>
                    <a:pt x="13217416" y="15815"/>
                    <a:pt x="13217416" y="21523"/>
                  </a:cubicBezTo>
                  <a:lnTo>
                    <a:pt x="13217416" y="14621996"/>
                  </a:lnTo>
                  <a:cubicBezTo>
                    <a:pt x="13217416" y="14633882"/>
                    <a:pt x="13207780" y="14643519"/>
                    <a:pt x="13195894" y="14643519"/>
                  </a:cubicBezTo>
                  <a:lnTo>
                    <a:pt x="21523" y="14643519"/>
                  </a:lnTo>
                  <a:cubicBezTo>
                    <a:pt x="15815" y="14643519"/>
                    <a:pt x="10340" y="14641251"/>
                    <a:pt x="6304" y="14637215"/>
                  </a:cubicBezTo>
                  <a:cubicBezTo>
                    <a:pt x="2268" y="14633178"/>
                    <a:pt x="0" y="14627704"/>
                    <a:pt x="0" y="14621996"/>
                  </a:cubicBezTo>
                  <a:lnTo>
                    <a:pt x="0" y="21523"/>
                  </a:lnTo>
                  <a:cubicBezTo>
                    <a:pt x="0" y="15815"/>
                    <a:pt x="2268" y="10340"/>
                    <a:pt x="6304" y="6304"/>
                  </a:cubicBezTo>
                  <a:cubicBezTo>
                    <a:pt x="10340" y="2268"/>
                    <a:pt x="15815" y="0"/>
                    <a:pt x="2152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3217417" cy="14633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42253" y="2722955"/>
            <a:ext cx="4728230" cy="441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Stacking Experiment </a:t>
            </a:r>
          </a:p>
          <a:p>
            <a:pPr algn="l">
              <a:lnSpc>
                <a:spcPts val="3157"/>
              </a:lnSpc>
            </a:pP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 Forest scored highest (Acc 0.3863) — but only as a base learner inside a 4-model ensemble. The stacking meta-learner combines LR + RF + GB + DT together. RF was not running alone.</a:t>
            </a:r>
          </a:p>
          <a:p>
            <a:pPr algn="l">
              <a:lnSpc>
                <a:spcPts val="3157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0099221" y="1754125"/>
            <a:ext cx="5755335" cy="6376310"/>
            <a:chOff x="0" y="0"/>
            <a:chExt cx="13217417" cy="146435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17416" cy="14643519"/>
            </a:xfrm>
            <a:custGeom>
              <a:avLst/>
              <a:gdLst/>
              <a:ahLst/>
              <a:cxnLst/>
              <a:rect r="r" b="b" t="t" l="l"/>
              <a:pathLst>
                <a:path h="14643519" w="13217416">
                  <a:moveTo>
                    <a:pt x="21523" y="0"/>
                  </a:moveTo>
                  <a:lnTo>
                    <a:pt x="13195894" y="0"/>
                  </a:lnTo>
                  <a:cubicBezTo>
                    <a:pt x="13201602" y="0"/>
                    <a:pt x="13207076" y="2268"/>
                    <a:pt x="13211113" y="6304"/>
                  </a:cubicBezTo>
                  <a:cubicBezTo>
                    <a:pt x="13215148" y="10340"/>
                    <a:pt x="13217416" y="15815"/>
                    <a:pt x="13217416" y="21523"/>
                  </a:cubicBezTo>
                  <a:lnTo>
                    <a:pt x="13217416" y="14621996"/>
                  </a:lnTo>
                  <a:cubicBezTo>
                    <a:pt x="13217416" y="14633882"/>
                    <a:pt x="13207780" y="14643519"/>
                    <a:pt x="13195894" y="14643519"/>
                  </a:cubicBezTo>
                  <a:lnTo>
                    <a:pt x="21523" y="14643519"/>
                  </a:lnTo>
                  <a:cubicBezTo>
                    <a:pt x="15815" y="14643519"/>
                    <a:pt x="10340" y="14641251"/>
                    <a:pt x="6304" y="14637215"/>
                  </a:cubicBezTo>
                  <a:cubicBezTo>
                    <a:pt x="2268" y="14633178"/>
                    <a:pt x="0" y="14627704"/>
                    <a:pt x="0" y="14621996"/>
                  </a:cubicBezTo>
                  <a:lnTo>
                    <a:pt x="0" y="21523"/>
                  </a:lnTo>
                  <a:cubicBezTo>
                    <a:pt x="0" y="15815"/>
                    <a:pt x="2268" y="10340"/>
                    <a:pt x="6304" y="6304"/>
                  </a:cubicBezTo>
                  <a:cubicBezTo>
                    <a:pt x="10340" y="2268"/>
                    <a:pt x="15815" y="0"/>
                    <a:pt x="2152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3217417" cy="14633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458577" y="2855123"/>
            <a:ext cx="4728230" cy="361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Standalone Comparison</a:t>
            </a: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Final Model Selection)</a:t>
            </a:r>
          </a:p>
          <a:p>
            <a:pPr algn="l">
              <a:lnSpc>
                <a:spcPts val="3157"/>
              </a:lnSpc>
            </a:pP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When RF runs alone, its accuracy = 0.3756. Gradient Boosting with PCA 95% = 0.3822 — clearly higher. GB wins the standalone race</a:t>
            </a:r>
          </a:p>
          <a:p>
            <a:pPr algn="l">
              <a:lnSpc>
                <a:spcPts val="3157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8416800"/>
            <a:ext cx="16230600" cy="2233422"/>
            <a:chOff x="0" y="0"/>
            <a:chExt cx="37274393" cy="51291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274395" cy="5129166"/>
            </a:xfrm>
            <a:custGeom>
              <a:avLst/>
              <a:gdLst/>
              <a:ahLst/>
              <a:cxnLst/>
              <a:rect r="r" b="b" t="t" l="l"/>
              <a:pathLst>
                <a:path h="5129166" w="37274395">
                  <a:moveTo>
                    <a:pt x="7632" y="0"/>
                  </a:moveTo>
                  <a:lnTo>
                    <a:pt x="37266764" y="0"/>
                  </a:lnTo>
                  <a:cubicBezTo>
                    <a:pt x="37270978" y="0"/>
                    <a:pt x="37274395" y="3417"/>
                    <a:pt x="37274395" y="7632"/>
                  </a:cubicBezTo>
                  <a:lnTo>
                    <a:pt x="37274395" y="5121534"/>
                  </a:lnTo>
                  <a:cubicBezTo>
                    <a:pt x="37274395" y="5125750"/>
                    <a:pt x="37270978" y="5129166"/>
                    <a:pt x="37266764" y="5129166"/>
                  </a:cubicBezTo>
                  <a:lnTo>
                    <a:pt x="7632" y="5129166"/>
                  </a:lnTo>
                  <a:cubicBezTo>
                    <a:pt x="3417" y="5129166"/>
                    <a:pt x="0" y="5125750"/>
                    <a:pt x="0" y="5121534"/>
                  </a:cubicBezTo>
                  <a:lnTo>
                    <a:pt x="0" y="7632"/>
                  </a:lnTo>
                  <a:cubicBezTo>
                    <a:pt x="0" y="3417"/>
                    <a:pt x="3417" y="0"/>
                    <a:pt x="763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7274393" cy="5157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Conclusion: Stacking RF scored high as part of an ensemble — but deploying 4 models for ~0 gain over a single tuned GB is not justified. GB (PCA 95%) = 0.3822 wins on accuracy + speed + simplicity.</a:t>
              </a:r>
            </a:p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69400"/>
            <a:ext cx="16230600" cy="1046359"/>
            <a:chOff x="0" y="0"/>
            <a:chExt cx="37274393" cy="24030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74395" cy="2403017"/>
            </a:xfrm>
            <a:custGeom>
              <a:avLst/>
              <a:gdLst/>
              <a:ahLst/>
              <a:cxnLst/>
              <a:rect r="r" b="b" t="t" l="l"/>
              <a:pathLst>
                <a:path h="2403017" w="37274395">
                  <a:moveTo>
                    <a:pt x="7155" y="0"/>
                  </a:moveTo>
                  <a:lnTo>
                    <a:pt x="37267238" y="0"/>
                  </a:lnTo>
                  <a:cubicBezTo>
                    <a:pt x="37269136" y="0"/>
                    <a:pt x="37270956" y="754"/>
                    <a:pt x="37272299" y="2096"/>
                  </a:cubicBezTo>
                  <a:cubicBezTo>
                    <a:pt x="37273641" y="3437"/>
                    <a:pt x="37274395" y="5257"/>
                    <a:pt x="37274395" y="7155"/>
                  </a:cubicBezTo>
                  <a:lnTo>
                    <a:pt x="37274395" y="2395862"/>
                  </a:lnTo>
                  <a:cubicBezTo>
                    <a:pt x="37274395" y="2399814"/>
                    <a:pt x="37271192" y="2403017"/>
                    <a:pt x="37267238" y="2403017"/>
                  </a:cubicBezTo>
                  <a:lnTo>
                    <a:pt x="7155" y="2403017"/>
                  </a:lnTo>
                  <a:cubicBezTo>
                    <a:pt x="5257" y="2403017"/>
                    <a:pt x="3437" y="2402263"/>
                    <a:pt x="2096" y="2400921"/>
                  </a:cubicBezTo>
                  <a:cubicBezTo>
                    <a:pt x="754" y="2399580"/>
                    <a:pt x="0" y="2397760"/>
                    <a:pt x="0" y="2395862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37274393" cy="2469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956"/>
                </a:lnSpc>
                <a:spcBef>
                  <a:spcPct val="0"/>
                </a:spcBef>
              </a:pPr>
              <a:r>
                <a:rPr lang="en-US" b="true" sz="3540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Hybrid Scoring Engine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9745" y="3590551"/>
            <a:ext cx="5755335" cy="6376310"/>
            <a:chOff x="0" y="0"/>
            <a:chExt cx="13217417" cy="146435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17416" cy="14643519"/>
            </a:xfrm>
            <a:custGeom>
              <a:avLst/>
              <a:gdLst/>
              <a:ahLst/>
              <a:cxnLst/>
              <a:rect r="r" b="b" t="t" l="l"/>
              <a:pathLst>
                <a:path h="14643519" w="13217416">
                  <a:moveTo>
                    <a:pt x="21523" y="0"/>
                  </a:moveTo>
                  <a:lnTo>
                    <a:pt x="13195894" y="0"/>
                  </a:lnTo>
                  <a:cubicBezTo>
                    <a:pt x="13201602" y="0"/>
                    <a:pt x="13207076" y="2268"/>
                    <a:pt x="13211113" y="6304"/>
                  </a:cubicBezTo>
                  <a:cubicBezTo>
                    <a:pt x="13215148" y="10340"/>
                    <a:pt x="13217416" y="15815"/>
                    <a:pt x="13217416" y="21523"/>
                  </a:cubicBezTo>
                  <a:lnTo>
                    <a:pt x="13217416" y="14621996"/>
                  </a:lnTo>
                  <a:cubicBezTo>
                    <a:pt x="13217416" y="14633882"/>
                    <a:pt x="13207780" y="14643519"/>
                    <a:pt x="13195894" y="14643519"/>
                  </a:cubicBezTo>
                  <a:lnTo>
                    <a:pt x="21523" y="14643519"/>
                  </a:lnTo>
                  <a:cubicBezTo>
                    <a:pt x="15815" y="14643519"/>
                    <a:pt x="10340" y="14641251"/>
                    <a:pt x="6304" y="14637215"/>
                  </a:cubicBezTo>
                  <a:cubicBezTo>
                    <a:pt x="2268" y="14633178"/>
                    <a:pt x="0" y="14627704"/>
                    <a:pt x="0" y="14621996"/>
                  </a:cubicBezTo>
                  <a:lnTo>
                    <a:pt x="0" y="21523"/>
                  </a:lnTo>
                  <a:cubicBezTo>
                    <a:pt x="0" y="15815"/>
                    <a:pt x="2268" y="10340"/>
                    <a:pt x="6304" y="6304"/>
                  </a:cubicBezTo>
                  <a:cubicBezTo>
                    <a:pt x="10340" y="2268"/>
                    <a:pt x="15815" y="0"/>
                    <a:pt x="2152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3217417" cy="14633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15486" y="3902922"/>
            <a:ext cx="472823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TF-IDF vectorises cleaned text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1817964"/>
            <a:ext cx="16230600" cy="861822"/>
            <a:chOff x="0" y="0"/>
            <a:chExt cx="37274393" cy="1979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274395" cy="1979218"/>
            </a:xfrm>
            <a:custGeom>
              <a:avLst/>
              <a:gdLst/>
              <a:ahLst/>
              <a:cxnLst/>
              <a:rect r="r" b="b" t="t" l="l"/>
              <a:pathLst>
                <a:path h="1979218" w="37274395">
                  <a:moveTo>
                    <a:pt x="7632" y="0"/>
                  </a:moveTo>
                  <a:lnTo>
                    <a:pt x="37266764" y="0"/>
                  </a:lnTo>
                  <a:cubicBezTo>
                    <a:pt x="37270978" y="0"/>
                    <a:pt x="37274395" y="3417"/>
                    <a:pt x="37274395" y="7632"/>
                  </a:cubicBezTo>
                  <a:lnTo>
                    <a:pt x="37274395" y="1971586"/>
                  </a:lnTo>
                  <a:cubicBezTo>
                    <a:pt x="37274395" y="1975801"/>
                    <a:pt x="37270978" y="1979218"/>
                    <a:pt x="37266764" y="1979218"/>
                  </a:cubicBezTo>
                  <a:lnTo>
                    <a:pt x="7632" y="1979218"/>
                  </a:lnTo>
                  <a:cubicBezTo>
                    <a:pt x="3417" y="1979218"/>
                    <a:pt x="0" y="1975801"/>
                    <a:pt x="0" y="1971586"/>
                  </a:cubicBezTo>
                  <a:lnTo>
                    <a:pt x="0" y="7632"/>
                  </a:lnTo>
                  <a:cubicBezTo>
                    <a:pt x="0" y="3417"/>
                    <a:pt x="3417" y="0"/>
                    <a:pt x="763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7274393" cy="2007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final_score=0.55×ML_score+0.45×Rule_score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9459" y="2679786"/>
            <a:ext cx="3191066" cy="910765"/>
            <a:chOff x="0" y="0"/>
            <a:chExt cx="7328445" cy="20916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28444" cy="2091618"/>
            </a:xfrm>
            <a:custGeom>
              <a:avLst/>
              <a:gdLst/>
              <a:ahLst/>
              <a:cxnLst/>
              <a:rect r="r" b="b" t="t" l="l"/>
              <a:pathLst>
                <a:path h="2091618" w="7328444">
                  <a:moveTo>
                    <a:pt x="38818" y="0"/>
                  </a:moveTo>
                  <a:lnTo>
                    <a:pt x="7289626" y="0"/>
                  </a:lnTo>
                  <a:cubicBezTo>
                    <a:pt x="7299921" y="0"/>
                    <a:pt x="7309795" y="4090"/>
                    <a:pt x="7317074" y="11370"/>
                  </a:cubicBezTo>
                  <a:cubicBezTo>
                    <a:pt x="7324354" y="18649"/>
                    <a:pt x="7328444" y="28523"/>
                    <a:pt x="7328444" y="38818"/>
                  </a:cubicBezTo>
                  <a:lnTo>
                    <a:pt x="7328444" y="2052800"/>
                  </a:lnTo>
                  <a:cubicBezTo>
                    <a:pt x="7328444" y="2063095"/>
                    <a:pt x="7324354" y="2072969"/>
                    <a:pt x="7317074" y="2080249"/>
                  </a:cubicBezTo>
                  <a:cubicBezTo>
                    <a:pt x="7309795" y="2087529"/>
                    <a:pt x="7299921" y="2091618"/>
                    <a:pt x="7289626" y="2091618"/>
                  </a:cubicBezTo>
                  <a:lnTo>
                    <a:pt x="38818" y="2091618"/>
                  </a:lnTo>
                  <a:cubicBezTo>
                    <a:pt x="28523" y="2091618"/>
                    <a:pt x="18649" y="2087529"/>
                    <a:pt x="11370" y="2080249"/>
                  </a:cubicBezTo>
                  <a:cubicBezTo>
                    <a:pt x="4090" y="2072969"/>
                    <a:pt x="0" y="2063095"/>
                    <a:pt x="0" y="2052800"/>
                  </a:cubicBezTo>
                  <a:lnTo>
                    <a:pt x="0" y="38818"/>
                  </a:lnTo>
                  <a:cubicBezTo>
                    <a:pt x="0" y="28523"/>
                    <a:pt x="4090" y="18649"/>
                    <a:pt x="11370" y="11370"/>
                  </a:cubicBezTo>
                  <a:cubicBezTo>
                    <a:pt x="18649" y="4090"/>
                    <a:pt x="28523" y="0"/>
                    <a:pt x="38818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328445" cy="2139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b="true" sz="2147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ML Branch (55%)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266333" y="3590551"/>
            <a:ext cx="5755335" cy="6376310"/>
            <a:chOff x="0" y="0"/>
            <a:chExt cx="13217417" cy="146435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17416" cy="14643519"/>
            </a:xfrm>
            <a:custGeom>
              <a:avLst/>
              <a:gdLst/>
              <a:ahLst/>
              <a:cxnLst/>
              <a:rect r="r" b="b" t="t" l="l"/>
              <a:pathLst>
                <a:path h="14643519" w="13217416">
                  <a:moveTo>
                    <a:pt x="21523" y="0"/>
                  </a:moveTo>
                  <a:lnTo>
                    <a:pt x="13195894" y="0"/>
                  </a:lnTo>
                  <a:cubicBezTo>
                    <a:pt x="13201602" y="0"/>
                    <a:pt x="13207076" y="2268"/>
                    <a:pt x="13211113" y="6304"/>
                  </a:cubicBezTo>
                  <a:cubicBezTo>
                    <a:pt x="13215148" y="10340"/>
                    <a:pt x="13217416" y="15815"/>
                    <a:pt x="13217416" y="21523"/>
                  </a:cubicBezTo>
                  <a:lnTo>
                    <a:pt x="13217416" y="14621996"/>
                  </a:lnTo>
                  <a:cubicBezTo>
                    <a:pt x="13217416" y="14633882"/>
                    <a:pt x="13207780" y="14643519"/>
                    <a:pt x="13195894" y="14643519"/>
                  </a:cubicBezTo>
                  <a:lnTo>
                    <a:pt x="21523" y="14643519"/>
                  </a:lnTo>
                  <a:cubicBezTo>
                    <a:pt x="15815" y="14643519"/>
                    <a:pt x="10340" y="14641251"/>
                    <a:pt x="6304" y="14637215"/>
                  </a:cubicBezTo>
                  <a:cubicBezTo>
                    <a:pt x="2268" y="14633178"/>
                    <a:pt x="0" y="14627704"/>
                    <a:pt x="0" y="14621996"/>
                  </a:cubicBezTo>
                  <a:lnTo>
                    <a:pt x="0" y="21523"/>
                  </a:lnTo>
                  <a:cubicBezTo>
                    <a:pt x="0" y="15815"/>
                    <a:pt x="2268" y="10340"/>
                    <a:pt x="6304" y="6304"/>
                  </a:cubicBezTo>
                  <a:cubicBezTo>
                    <a:pt x="10340" y="2268"/>
                    <a:pt x="15815" y="0"/>
                    <a:pt x="2152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13217417" cy="14633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50267" y="3590551"/>
            <a:ext cx="5755335" cy="6376310"/>
            <a:chOff x="0" y="0"/>
            <a:chExt cx="13217417" cy="146435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217416" cy="14643519"/>
            </a:xfrm>
            <a:custGeom>
              <a:avLst/>
              <a:gdLst/>
              <a:ahLst/>
              <a:cxnLst/>
              <a:rect r="r" b="b" t="t" l="l"/>
              <a:pathLst>
                <a:path h="14643519" w="13217416">
                  <a:moveTo>
                    <a:pt x="21523" y="0"/>
                  </a:moveTo>
                  <a:lnTo>
                    <a:pt x="13195894" y="0"/>
                  </a:lnTo>
                  <a:cubicBezTo>
                    <a:pt x="13201602" y="0"/>
                    <a:pt x="13207076" y="2268"/>
                    <a:pt x="13211113" y="6304"/>
                  </a:cubicBezTo>
                  <a:cubicBezTo>
                    <a:pt x="13215148" y="10340"/>
                    <a:pt x="13217416" y="15815"/>
                    <a:pt x="13217416" y="21523"/>
                  </a:cubicBezTo>
                  <a:lnTo>
                    <a:pt x="13217416" y="14621996"/>
                  </a:lnTo>
                  <a:cubicBezTo>
                    <a:pt x="13217416" y="14633882"/>
                    <a:pt x="13207780" y="14643519"/>
                    <a:pt x="13195894" y="14643519"/>
                  </a:cubicBezTo>
                  <a:lnTo>
                    <a:pt x="21523" y="14643519"/>
                  </a:lnTo>
                  <a:cubicBezTo>
                    <a:pt x="15815" y="14643519"/>
                    <a:pt x="10340" y="14641251"/>
                    <a:pt x="6304" y="14637215"/>
                  </a:cubicBezTo>
                  <a:cubicBezTo>
                    <a:pt x="2268" y="14633178"/>
                    <a:pt x="0" y="14627704"/>
                    <a:pt x="0" y="14621996"/>
                  </a:cubicBezTo>
                  <a:lnTo>
                    <a:pt x="0" y="21523"/>
                  </a:lnTo>
                  <a:cubicBezTo>
                    <a:pt x="0" y="15815"/>
                    <a:pt x="2268" y="10340"/>
                    <a:pt x="6304" y="6304"/>
                  </a:cubicBezTo>
                  <a:cubicBezTo>
                    <a:pt x="10340" y="2268"/>
                    <a:pt x="15815" y="0"/>
                    <a:pt x="2152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13217417" cy="14633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15486" y="5124450"/>
            <a:ext cx="472823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Gradient Boost predicts label 1–5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5486" y="7562850"/>
            <a:ext cx="472823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Weighted sum = ML score</a:t>
            </a:r>
          </a:p>
          <a:p>
            <a:pPr algn="l">
              <a:lnSpc>
                <a:spcPts val="315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15486" y="6343650"/>
            <a:ext cx="472823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Labels mapped to weights:</a:t>
            </a:r>
          </a:p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1→0%, 5→100%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78559" y="7448550"/>
            <a:ext cx="472823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Logistic squash → [0, 1] rule score</a:t>
            </a:r>
          </a:p>
          <a:p>
            <a:pPr algn="l">
              <a:lnSpc>
                <a:spcPts val="315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6778559" y="6286500"/>
            <a:ext cx="472823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Net = boosters − hedges, normalised by tokens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79885" y="5124450"/>
            <a:ext cx="472823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30+ booster words detected (e.g. “clearly”)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78559" y="3960072"/>
            <a:ext cx="472823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40+ hedge words detected (e.g. “maybe”)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40817" y="3960072"/>
            <a:ext cx="472823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 — score &lt; 40%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63820" y="7448550"/>
            <a:ext cx="472823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Validated: 37/40 human raters agreed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63820" y="6286500"/>
            <a:ext cx="472823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— score ≥ 70%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64617" y="5124450"/>
            <a:ext cx="472823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26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Medium — 40% ≤ score &lt; 70%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547140" y="2679786"/>
            <a:ext cx="3191066" cy="910765"/>
            <a:chOff x="0" y="0"/>
            <a:chExt cx="7328445" cy="20916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28444" cy="2091618"/>
            </a:xfrm>
            <a:custGeom>
              <a:avLst/>
              <a:gdLst/>
              <a:ahLst/>
              <a:cxnLst/>
              <a:rect r="r" b="b" t="t" l="l"/>
              <a:pathLst>
                <a:path h="2091618" w="7328444">
                  <a:moveTo>
                    <a:pt x="38818" y="0"/>
                  </a:moveTo>
                  <a:lnTo>
                    <a:pt x="7289626" y="0"/>
                  </a:lnTo>
                  <a:cubicBezTo>
                    <a:pt x="7299921" y="0"/>
                    <a:pt x="7309795" y="4090"/>
                    <a:pt x="7317074" y="11370"/>
                  </a:cubicBezTo>
                  <a:cubicBezTo>
                    <a:pt x="7324354" y="18649"/>
                    <a:pt x="7328444" y="28523"/>
                    <a:pt x="7328444" y="38818"/>
                  </a:cubicBezTo>
                  <a:lnTo>
                    <a:pt x="7328444" y="2052800"/>
                  </a:lnTo>
                  <a:cubicBezTo>
                    <a:pt x="7328444" y="2063095"/>
                    <a:pt x="7324354" y="2072969"/>
                    <a:pt x="7317074" y="2080249"/>
                  </a:cubicBezTo>
                  <a:cubicBezTo>
                    <a:pt x="7309795" y="2087529"/>
                    <a:pt x="7299921" y="2091618"/>
                    <a:pt x="7289626" y="2091618"/>
                  </a:cubicBezTo>
                  <a:lnTo>
                    <a:pt x="38818" y="2091618"/>
                  </a:lnTo>
                  <a:cubicBezTo>
                    <a:pt x="28523" y="2091618"/>
                    <a:pt x="18649" y="2087529"/>
                    <a:pt x="11370" y="2080249"/>
                  </a:cubicBezTo>
                  <a:cubicBezTo>
                    <a:pt x="4090" y="2072969"/>
                    <a:pt x="0" y="2063095"/>
                    <a:pt x="0" y="2052800"/>
                  </a:cubicBezTo>
                  <a:lnTo>
                    <a:pt x="0" y="38818"/>
                  </a:lnTo>
                  <a:cubicBezTo>
                    <a:pt x="0" y="28523"/>
                    <a:pt x="4090" y="18649"/>
                    <a:pt x="11370" y="11370"/>
                  </a:cubicBezTo>
                  <a:cubicBezTo>
                    <a:pt x="18649" y="4090"/>
                    <a:pt x="28523" y="0"/>
                    <a:pt x="38818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328445" cy="2139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6"/>
                </a:lnSpc>
                <a:spcBef>
                  <a:spcPct val="0"/>
                </a:spcBef>
              </a:pPr>
              <a:r>
                <a:rPr lang="en-US" b="true" sz="2147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Rule Branch (45%)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532402" y="2679786"/>
            <a:ext cx="3191066" cy="910765"/>
            <a:chOff x="0" y="0"/>
            <a:chExt cx="7328445" cy="20916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28444" cy="2091618"/>
            </a:xfrm>
            <a:custGeom>
              <a:avLst/>
              <a:gdLst/>
              <a:ahLst/>
              <a:cxnLst/>
              <a:rect r="r" b="b" t="t" l="l"/>
              <a:pathLst>
                <a:path h="2091618" w="7328444">
                  <a:moveTo>
                    <a:pt x="38818" y="0"/>
                  </a:moveTo>
                  <a:lnTo>
                    <a:pt x="7289626" y="0"/>
                  </a:lnTo>
                  <a:cubicBezTo>
                    <a:pt x="7299921" y="0"/>
                    <a:pt x="7309795" y="4090"/>
                    <a:pt x="7317074" y="11370"/>
                  </a:cubicBezTo>
                  <a:cubicBezTo>
                    <a:pt x="7324354" y="18649"/>
                    <a:pt x="7328444" y="28523"/>
                    <a:pt x="7328444" y="38818"/>
                  </a:cubicBezTo>
                  <a:lnTo>
                    <a:pt x="7328444" y="2052800"/>
                  </a:lnTo>
                  <a:cubicBezTo>
                    <a:pt x="7328444" y="2063095"/>
                    <a:pt x="7324354" y="2072969"/>
                    <a:pt x="7317074" y="2080249"/>
                  </a:cubicBezTo>
                  <a:cubicBezTo>
                    <a:pt x="7309795" y="2087529"/>
                    <a:pt x="7299921" y="2091618"/>
                    <a:pt x="7289626" y="2091618"/>
                  </a:cubicBezTo>
                  <a:lnTo>
                    <a:pt x="38818" y="2091618"/>
                  </a:lnTo>
                  <a:cubicBezTo>
                    <a:pt x="28523" y="2091618"/>
                    <a:pt x="18649" y="2087529"/>
                    <a:pt x="11370" y="2080249"/>
                  </a:cubicBezTo>
                  <a:cubicBezTo>
                    <a:pt x="4090" y="2072969"/>
                    <a:pt x="0" y="2063095"/>
                    <a:pt x="0" y="2052800"/>
                  </a:cubicBezTo>
                  <a:lnTo>
                    <a:pt x="0" y="38818"/>
                  </a:lnTo>
                  <a:cubicBezTo>
                    <a:pt x="0" y="28523"/>
                    <a:pt x="4090" y="18649"/>
                    <a:pt x="11370" y="11370"/>
                  </a:cubicBezTo>
                  <a:cubicBezTo>
                    <a:pt x="18649" y="4090"/>
                    <a:pt x="28523" y="0"/>
                    <a:pt x="38818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328445" cy="2139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6"/>
                </a:lnSpc>
                <a:spcBef>
                  <a:spcPct val="0"/>
                </a:spcBef>
              </a:pPr>
              <a:r>
                <a:rPr lang="en-US" b="true" sz="2147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Output Levels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4630" y="1862203"/>
            <a:ext cx="7793081" cy="2061668"/>
            <a:chOff x="0" y="0"/>
            <a:chExt cx="17897205" cy="47347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97205" cy="4734724"/>
            </a:xfrm>
            <a:custGeom>
              <a:avLst/>
              <a:gdLst/>
              <a:ahLst/>
              <a:cxnLst/>
              <a:rect r="r" b="b" t="t" l="l"/>
              <a:pathLst>
                <a:path h="4734724" w="17897205">
                  <a:moveTo>
                    <a:pt x="50665" y="0"/>
                  </a:moveTo>
                  <a:lnTo>
                    <a:pt x="17846540" y="0"/>
                  </a:lnTo>
                  <a:cubicBezTo>
                    <a:pt x="17859978" y="0"/>
                    <a:pt x="17872864" y="5338"/>
                    <a:pt x="17882366" y="14839"/>
                  </a:cubicBezTo>
                  <a:cubicBezTo>
                    <a:pt x="17891868" y="24341"/>
                    <a:pt x="17897205" y="37228"/>
                    <a:pt x="17897205" y="50665"/>
                  </a:cubicBezTo>
                  <a:lnTo>
                    <a:pt x="17897205" y="4684059"/>
                  </a:lnTo>
                  <a:cubicBezTo>
                    <a:pt x="17897205" y="4697496"/>
                    <a:pt x="17891868" y="4710383"/>
                    <a:pt x="17882366" y="4719885"/>
                  </a:cubicBezTo>
                  <a:cubicBezTo>
                    <a:pt x="17872864" y="4729386"/>
                    <a:pt x="17859978" y="4734724"/>
                    <a:pt x="17846540" y="4734724"/>
                  </a:cubicBezTo>
                  <a:lnTo>
                    <a:pt x="50665" y="4734724"/>
                  </a:lnTo>
                  <a:cubicBezTo>
                    <a:pt x="37228" y="4734724"/>
                    <a:pt x="24341" y="4729386"/>
                    <a:pt x="14839" y="4719885"/>
                  </a:cubicBezTo>
                  <a:cubicBezTo>
                    <a:pt x="5338" y="4710383"/>
                    <a:pt x="0" y="4697496"/>
                    <a:pt x="0" y="4684059"/>
                  </a:cubicBezTo>
                  <a:lnTo>
                    <a:pt x="0" y="50665"/>
                  </a:lnTo>
                  <a:cubicBezTo>
                    <a:pt x="0" y="37228"/>
                    <a:pt x="5338" y="24341"/>
                    <a:pt x="14839" y="14839"/>
                  </a:cubicBezTo>
                  <a:cubicBezTo>
                    <a:pt x="24341" y="5338"/>
                    <a:pt x="37228" y="0"/>
                    <a:pt x="5066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7897205" cy="4763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8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Animated Gauge</a:t>
              </a:r>
            </a:p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0–100% spring-animated 3/4-circle showing Low / Medium / High with color coding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69400"/>
            <a:ext cx="16230600" cy="1046359"/>
            <a:chOff x="0" y="0"/>
            <a:chExt cx="37274393" cy="24030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274395" cy="2403017"/>
            </a:xfrm>
            <a:custGeom>
              <a:avLst/>
              <a:gdLst/>
              <a:ahLst/>
              <a:cxnLst/>
              <a:rect r="r" b="b" t="t" l="l"/>
              <a:pathLst>
                <a:path h="2403017" w="37274395">
                  <a:moveTo>
                    <a:pt x="7155" y="0"/>
                  </a:moveTo>
                  <a:lnTo>
                    <a:pt x="37267238" y="0"/>
                  </a:lnTo>
                  <a:cubicBezTo>
                    <a:pt x="37269136" y="0"/>
                    <a:pt x="37270956" y="754"/>
                    <a:pt x="37272299" y="2096"/>
                  </a:cubicBezTo>
                  <a:cubicBezTo>
                    <a:pt x="37273641" y="3437"/>
                    <a:pt x="37274395" y="5257"/>
                    <a:pt x="37274395" y="7155"/>
                  </a:cubicBezTo>
                  <a:lnTo>
                    <a:pt x="37274395" y="2395862"/>
                  </a:lnTo>
                  <a:cubicBezTo>
                    <a:pt x="37274395" y="2399814"/>
                    <a:pt x="37271192" y="2403017"/>
                    <a:pt x="37267238" y="2403017"/>
                  </a:cubicBezTo>
                  <a:lnTo>
                    <a:pt x="7155" y="2403017"/>
                  </a:lnTo>
                  <a:cubicBezTo>
                    <a:pt x="5257" y="2403017"/>
                    <a:pt x="3437" y="2402263"/>
                    <a:pt x="2096" y="2400921"/>
                  </a:cubicBezTo>
                  <a:cubicBezTo>
                    <a:pt x="754" y="2399580"/>
                    <a:pt x="0" y="2397760"/>
                    <a:pt x="0" y="2395862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7274393" cy="2469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956"/>
                </a:lnSpc>
                <a:spcBef>
                  <a:spcPct val="0"/>
                </a:spcBef>
              </a:pPr>
              <a:r>
                <a:rPr lang="en-US" b="true" sz="3540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Frontend and User Interface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66219" y="1862203"/>
            <a:ext cx="7793081" cy="2017045"/>
            <a:chOff x="0" y="0"/>
            <a:chExt cx="17897205" cy="46322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897205" cy="4632246"/>
            </a:xfrm>
            <a:custGeom>
              <a:avLst/>
              <a:gdLst/>
              <a:ahLst/>
              <a:cxnLst/>
              <a:rect r="r" b="b" t="t" l="l"/>
              <a:pathLst>
                <a:path h="4632246" w="17897205">
                  <a:moveTo>
                    <a:pt x="50665" y="0"/>
                  </a:moveTo>
                  <a:lnTo>
                    <a:pt x="17846540" y="0"/>
                  </a:lnTo>
                  <a:cubicBezTo>
                    <a:pt x="17859978" y="0"/>
                    <a:pt x="17872864" y="5338"/>
                    <a:pt x="17882366" y="14839"/>
                  </a:cubicBezTo>
                  <a:cubicBezTo>
                    <a:pt x="17891868" y="24341"/>
                    <a:pt x="17897205" y="37228"/>
                    <a:pt x="17897205" y="50665"/>
                  </a:cubicBezTo>
                  <a:lnTo>
                    <a:pt x="17897205" y="4581581"/>
                  </a:lnTo>
                  <a:cubicBezTo>
                    <a:pt x="17897205" y="4595018"/>
                    <a:pt x="17891868" y="4607905"/>
                    <a:pt x="17882366" y="4617407"/>
                  </a:cubicBezTo>
                  <a:cubicBezTo>
                    <a:pt x="17872864" y="4626908"/>
                    <a:pt x="17859978" y="4632246"/>
                    <a:pt x="17846540" y="4632246"/>
                  </a:cubicBezTo>
                  <a:lnTo>
                    <a:pt x="50665" y="4632246"/>
                  </a:lnTo>
                  <a:cubicBezTo>
                    <a:pt x="37228" y="4632246"/>
                    <a:pt x="24341" y="4626908"/>
                    <a:pt x="14839" y="4617407"/>
                  </a:cubicBezTo>
                  <a:cubicBezTo>
                    <a:pt x="5338" y="4607905"/>
                    <a:pt x="0" y="4595018"/>
                    <a:pt x="0" y="4581581"/>
                  </a:cubicBezTo>
                  <a:lnTo>
                    <a:pt x="0" y="50665"/>
                  </a:lnTo>
                  <a:cubicBezTo>
                    <a:pt x="0" y="37228"/>
                    <a:pt x="5338" y="24341"/>
                    <a:pt x="14839" y="14839"/>
                  </a:cubicBezTo>
                  <a:cubicBezTo>
                    <a:pt x="24341" y="5338"/>
                    <a:pt x="37228" y="0"/>
                    <a:pt x="5066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7897205" cy="4660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8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PDF Export</a:t>
              </a:r>
            </a:p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One-tap jsPDF export of the full result card including gauge and charts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4630" y="3923871"/>
            <a:ext cx="7793081" cy="2061668"/>
            <a:chOff x="0" y="0"/>
            <a:chExt cx="17897205" cy="47347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97205" cy="4734724"/>
            </a:xfrm>
            <a:custGeom>
              <a:avLst/>
              <a:gdLst/>
              <a:ahLst/>
              <a:cxnLst/>
              <a:rect r="r" b="b" t="t" l="l"/>
              <a:pathLst>
                <a:path h="4734724" w="17897205">
                  <a:moveTo>
                    <a:pt x="50665" y="0"/>
                  </a:moveTo>
                  <a:lnTo>
                    <a:pt x="17846540" y="0"/>
                  </a:lnTo>
                  <a:cubicBezTo>
                    <a:pt x="17859978" y="0"/>
                    <a:pt x="17872864" y="5338"/>
                    <a:pt x="17882366" y="14839"/>
                  </a:cubicBezTo>
                  <a:cubicBezTo>
                    <a:pt x="17891868" y="24341"/>
                    <a:pt x="17897205" y="37228"/>
                    <a:pt x="17897205" y="50665"/>
                  </a:cubicBezTo>
                  <a:lnTo>
                    <a:pt x="17897205" y="4684059"/>
                  </a:lnTo>
                  <a:cubicBezTo>
                    <a:pt x="17897205" y="4697496"/>
                    <a:pt x="17891868" y="4710383"/>
                    <a:pt x="17882366" y="4719885"/>
                  </a:cubicBezTo>
                  <a:cubicBezTo>
                    <a:pt x="17872864" y="4729386"/>
                    <a:pt x="17859978" y="4734724"/>
                    <a:pt x="17846540" y="4734724"/>
                  </a:cubicBezTo>
                  <a:lnTo>
                    <a:pt x="50665" y="4734724"/>
                  </a:lnTo>
                  <a:cubicBezTo>
                    <a:pt x="37228" y="4734724"/>
                    <a:pt x="24341" y="4729386"/>
                    <a:pt x="14839" y="4719885"/>
                  </a:cubicBezTo>
                  <a:cubicBezTo>
                    <a:pt x="5338" y="4710383"/>
                    <a:pt x="0" y="4697496"/>
                    <a:pt x="0" y="4684059"/>
                  </a:cubicBezTo>
                  <a:lnTo>
                    <a:pt x="0" y="50665"/>
                  </a:lnTo>
                  <a:cubicBezTo>
                    <a:pt x="0" y="37228"/>
                    <a:pt x="5338" y="24341"/>
                    <a:pt x="14839" y="14839"/>
                  </a:cubicBezTo>
                  <a:cubicBezTo>
                    <a:pt x="24341" y="5338"/>
                    <a:pt x="37228" y="0"/>
                    <a:pt x="5066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897205" cy="4763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8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Word Highlights</a:t>
              </a:r>
            </a:p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Per-word markup: hedges in red, boosters in green rendered inline on input text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4630" y="8047206"/>
            <a:ext cx="7793081" cy="2149258"/>
            <a:chOff x="0" y="0"/>
            <a:chExt cx="17897205" cy="4935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897205" cy="4935880"/>
            </a:xfrm>
            <a:custGeom>
              <a:avLst/>
              <a:gdLst/>
              <a:ahLst/>
              <a:cxnLst/>
              <a:rect r="r" b="b" t="t" l="l"/>
              <a:pathLst>
                <a:path h="4935880" w="17897205">
                  <a:moveTo>
                    <a:pt x="50665" y="0"/>
                  </a:moveTo>
                  <a:lnTo>
                    <a:pt x="17846540" y="0"/>
                  </a:lnTo>
                  <a:cubicBezTo>
                    <a:pt x="17859978" y="0"/>
                    <a:pt x="17872864" y="5338"/>
                    <a:pt x="17882366" y="14839"/>
                  </a:cubicBezTo>
                  <a:cubicBezTo>
                    <a:pt x="17891868" y="24341"/>
                    <a:pt x="17897205" y="37228"/>
                    <a:pt x="17897205" y="50665"/>
                  </a:cubicBezTo>
                  <a:lnTo>
                    <a:pt x="17897205" y="4885215"/>
                  </a:lnTo>
                  <a:cubicBezTo>
                    <a:pt x="17897205" y="4898652"/>
                    <a:pt x="17891868" y="4911539"/>
                    <a:pt x="17882366" y="4921041"/>
                  </a:cubicBezTo>
                  <a:cubicBezTo>
                    <a:pt x="17872864" y="4930542"/>
                    <a:pt x="17859978" y="4935880"/>
                    <a:pt x="17846540" y="4935880"/>
                  </a:cubicBezTo>
                  <a:lnTo>
                    <a:pt x="50665" y="4935880"/>
                  </a:lnTo>
                  <a:cubicBezTo>
                    <a:pt x="37228" y="4935880"/>
                    <a:pt x="24341" y="4930542"/>
                    <a:pt x="14839" y="4921041"/>
                  </a:cubicBezTo>
                  <a:cubicBezTo>
                    <a:pt x="5338" y="4911539"/>
                    <a:pt x="0" y="4898652"/>
                    <a:pt x="0" y="4885215"/>
                  </a:cubicBezTo>
                  <a:lnTo>
                    <a:pt x="0" y="50665"/>
                  </a:lnTo>
                  <a:cubicBezTo>
                    <a:pt x="0" y="37228"/>
                    <a:pt x="5338" y="24341"/>
                    <a:pt x="14839" y="14839"/>
                  </a:cubicBezTo>
                  <a:cubicBezTo>
                    <a:pt x="24341" y="5338"/>
                    <a:pt x="37228" y="0"/>
                    <a:pt x="5066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7897205" cy="4964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8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Explanation</a:t>
              </a:r>
            </a:p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Natural-language justification from the backend describing score drivers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4630" y="5985539"/>
            <a:ext cx="7793081" cy="2061668"/>
            <a:chOff x="0" y="0"/>
            <a:chExt cx="17897205" cy="47347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897205" cy="4734724"/>
            </a:xfrm>
            <a:custGeom>
              <a:avLst/>
              <a:gdLst/>
              <a:ahLst/>
              <a:cxnLst/>
              <a:rect r="r" b="b" t="t" l="l"/>
              <a:pathLst>
                <a:path h="4734724" w="17897205">
                  <a:moveTo>
                    <a:pt x="50665" y="0"/>
                  </a:moveTo>
                  <a:lnTo>
                    <a:pt x="17846540" y="0"/>
                  </a:lnTo>
                  <a:cubicBezTo>
                    <a:pt x="17859978" y="0"/>
                    <a:pt x="17872864" y="5338"/>
                    <a:pt x="17882366" y="14839"/>
                  </a:cubicBezTo>
                  <a:cubicBezTo>
                    <a:pt x="17891868" y="24341"/>
                    <a:pt x="17897205" y="37228"/>
                    <a:pt x="17897205" y="50665"/>
                  </a:cubicBezTo>
                  <a:lnTo>
                    <a:pt x="17897205" y="4684059"/>
                  </a:lnTo>
                  <a:cubicBezTo>
                    <a:pt x="17897205" y="4697496"/>
                    <a:pt x="17891868" y="4710383"/>
                    <a:pt x="17882366" y="4719885"/>
                  </a:cubicBezTo>
                  <a:cubicBezTo>
                    <a:pt x="17872864" y="4729386"/>
                    <a:pt x="17859978" y="4734724"/>
                    <a:pt x="17846540" y="4734724"/>
                  </a:cubicBezTo>
                  <a:lnTo>
                    <a:pt x="50665" y="4734724"/>
                  </a:lnTo>
                  <a:cubicBezTo>
                    <a:pt x="37228" y="4734724"/>
                    <a:pt x="24341" y="4729386"/>
                    <a:pt x="14839" y="4719885"/>
                  </a:cubicBezTo>
                  <a:cubicBezTo>
                    <a:pt x="5338" y="4710383"/>
                    <a:pt x="0" y="4697496"/>
                    <a:pt x="0" y="4684059"/>
                  </a:cubicBezTo>
                  <a:lnTo>
                    <a:pt x="0" y="50665"/>
                  </a:lnTo>
                  <a:cubicBezTo>
                    <a:pt x="0" y="37228"/>
                    <a:pt x="5338" y="24341"/>
                    <a:pt x="14839" y="14839"/>
                  </a:cubicBezTo>
                  <a:cubicBezTo>
                    <a:pt x="24341" y="5338"/>
                    <a:pt x="37228" y="0"/>
                    <a:pt x="5066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7897205" cy="4763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8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 Live Charts</a:t>
              </a:r>
            </a:p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Recharts: per-class probability bar, hybrid ML vs rule breakdown, lexical-density radar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66219" y="3901560"/>
            <a:ext cx="7793081" cy="2061668"/>
            <a:chOff x="0" y="0"/>
            <a:chExt cx="17897205" cy="47347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897205" cy="4734724"/>
            </a:xfrm>
            <a:custGeom>
              <a:avLst/>
              <a:gdLst/>
              <a:ahLst/>
              <a:cxnLst/>
              <a:rect r="r" b="b" t="t" l="l"/>
              <a:pathLst>
                <a:path h="4734724" w="17897205">
                  <a:moveTo>
                    <a:pt x="50665" y="0"/>
                  </a:moveTo>
                  <a:lnTo>
                    <a:pt x="17846540" y="0"/>
                  </a:lnTo>
                  <a:cubicBezTo>
                    <a:pt x="17859978" y="0"/>
                    <a:pt x="17872864" y="5338"/>
                    <a:pt x="17882366" y="14839"/>
                  </a:cubicBezTo>
                  <a:cubicBezTo>
                    <a:pt x="17891868" y="24341"/>
                    <a:pt x="17897205" y="37228"/>
                    <a:pt x="17897205" y="50665"/>
                  </a:cubicBezTo>
                  <a:lnTo>
                    <a:pt x="17897205" y="4684059"/>
                  </a:lnTo>
                  <a:cubicBezTo>
                    <a:pt x="17897205" y="4697496"/>
                    <a:pt x="17891868" y="4710383"/>
                    <a:pt x="17882366" y="4719885"/>
                  </a:cubicBezTo>
                  <a:cubicBezTo>
                    <a:pt x="17872864" y="4729386"/>
                    <a:pt x="17859978" y="4734724"/>
                    <a:pt x="17846540" y="4734724"/>
                  </a:cubicBezTo>
                  <a:lnTo>
                    <a:pt x="50665" y="4734724"/>
                  </a:lnTo>
                  <a:cubicBezTo>
                    <a:pt x="37228" y="4734724"/>
                    <a:pt x="24341" y="4729386"/>
                    <a:pt x="14839" y="4719885"/>
                  </a:cubicBezTo>
                  <a:cubicBezTo>
                    <a:pt x="5338" y="4710383"/>
                    <a:pt x="0" y="4697496"/>
                    <a:pt x="0" y="4684059"/>
                  </a:cubicBezTo>
                  <a:lnTo>
                    <a:pt x="0" y="50665"/>
                  </a:lnTo>
                  <a:cubicBezTo>
                    <a:pt x="0" y="37228"/>
                    <a:pt x="5338" y="24341"/>
                    <a:pt x="14839" y="14839"/>
                  </a:cubicBezTo>
                  <a:cubicBezTo>
                    <a:pt x="24341" y="5338"/>
                    <a:pt x="37228" y="0"/>
                    <a:pt x="5066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7897205" cy="4763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8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Prediction History</a:t>
              </a:r>
            </a:p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Last 20 predictions stored in localStorage with timestamps for comparison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66219" y="5963228"/>
            <a:ext cx="7793081" cy="2061668"/>
            <a:chOff x="0" y="0"/>
            <a:chExt cx="17897205" cy="47347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897205" cy="4734724"/>
            </a:xfrm>
            <a:custGeom>
              <a:avLst/>
              <a:gdLst/>
              <a:ahLst/>
              <a:cxnLst/>
              <a:rect r="r" b="b" t="t" l="l"/>
              <a:pathLst>
                <a:path h="4734724" w="17897205">
                  <a:moveTo>
                    <a:pt x="50665" y="0"/>
                  </a:moveTo>
                  <a:lnTo>
                    <a:pt x="17846540" y="0"/>
                  </a:lnTo>
                  <a:cubicBezTo>
                    <a:pt x="17859978" y="0"/>
                    <a:pt x="17872864" y="5338"/>
                    <a:pt x="17882366" y="14839"/>
                  </a:cubicBezTo>
                  <a:cubicBezTo>
                    <a:pt x="17891868" y="24341"/>
                    <a:pt x="17897205" y="37228"/>
                    <a:pt x="17897205" y="50665"/>
                  </a:cubicBezTo>
                  <a:lnTo>
                    <a:pt x="17897205" y="4684059"/>
                  </a:lnTo>
                  <a:cubicBezTo>
                    <a:pt x="17897205" y="4697496"/>
                    <a:pt x="17891868" y="4710383"/>
                    <a:pt x="17882366" y="4719885"/>
                  </a:cubicBezTo>
                  <a:cubicBezTo>
                    <a:pt x="17872864" y="4729386"/>
                    <a:pt x="17859978" y="4734724"/>
                    <a:pt x="17846540" y="4734724"/>
                  </a:cubicBezTo>
                  <a:lnTo>
                    <a:pt x="50665" y="4734724"/>
                  </a:lnTo>
                  <a:cubicBezTo>
                    <a:pt x="37228" y="4734724"/>
                    <a:pt x="24341" y="4729386"/>
                    <a:pt x="14839" y="4719885"/>
                  </a:cubicBezTo>
                  <a:cubicBezTo>
                    <a:pt x="5338" y="4710383"/>
                    <a:pt x="0" y="4697496"/>
                    <a:pt x="0" y="4684059"/>
                  </a:cubicBezTo>
                  <a:lnTo>
                    <a:pt x="0" y="50665"/>
                  </a:lnTo>
                  <a:cubicBezTo>
                    <a:pt x="0" y="37228"/>
                    <a:pt x="5338" y="24341"/>
                    <a:pt x="14839" y="14839"/>
                  </a:cubicBezTo>
                  <a:cubicBezTo>
                    <a:pt x="24341" y="5338"/>
                    <a:pt x="37228" y="0"/>
                    <a:pt x="5066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7897205" cy="4763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8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Dark Mode</a:t>
              </a:r>
            </a:p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System-aware dark/light toggle using Apple-inspired Tailwind color tokens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66219" y="8047206"/>
            <a:ext cx="7793081" cy="2065613"/>
            <a:chOff x="0" y="0"/>
            <a:chExt cx="17897205" cy="47437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897205" cy="4743786"/>
            </a:xfrm>
            <a:custGeom>
              <a:avLst/>
              <a:gdLst/>
              <a:ahLst/>
              <a:cxnLst/>
              <a:rect r="r" b="b" t="t" l="l"/>
              <a:pathLst>
                <a:path h="4743786" w="17897205">
                  <a:moveTo>
                    <a:pt x="50665" y="0"/>
                  </a:moveTo>
                  <a:lnTo>
                    <a:pt x="17846540" y="0"/>
                  </a:lnTo>
                  <a:cubicBezTo>
                    <a:pt x="17859978" y="0"/>
                    <a:pt x="17872864" y="5338"/>
                    <a:pt x="17882366" y="14839"/>
                  </a:cubicBezTo>
                  <a:cubicBezTo>
                    <a:pt x="17891868" y="24341"/>
                    <a:pt x="17897205" y="37228"/>
                    <a:pt x="17897205" y="50665"/>
                  </a:cubicBezTo>
                  <a:lnTo>
                    <a:pt x="17897205" y="4693121"/>
                  </a:lnTo>
                  <a:cubicBezTo>
                    <a:pt x="17897205" y="4706558"/>
                    <a:pt x="17891868" y="4719444"/>
                    <a:pt x="17882366" y="4728946"/>
                  </a:cubicBezTo>
                  <a:cubicBezTo>
                    <a:pt x="17872864" y="4738448"/>
                    <a:pt x="17859978" y="4743786"/>
                    <a:pt x="17846540" y="4743786"/>
                  </a:cubicBezTo>
                  <a:lnTo>
                    <a:pt x="50665" y="4743786"/>
                  </a:lnTo>
                  <a:cubicBezTo>
                    <a:pt x="37228" y="4743786"/>
                    <a:pt x="24341" y="4738448"/>
                    <a:pt x="14839" y="4728946"/>
                  </a:cubicBezTo>
                  <a:cubicBezTo>
                    <a:pt x="5338" y="4719444"/>
                    <a:pt x="0" y="4706558"/>
                    <a:pt x="0" y="4693121"/>
                  </a:cubicBezTo>
                  <a:lnTo>
                    <a:pt x="0" y="50665"/>
                  </a:lnTo>
                  <a:cubicBezTo>
                    <a:pt x="0" y="37228"/>
                    <a:pt x="5338" y="24341"/>
                    <a:pt x="14839" y="14839"/>
                  </a:cubicBezTo>
                  <a:cubicBezTo>
                    <a:pt x="24341" y="5338"/>
                    <a:pt x="37228" y="0"/>
                    <a:pt x="5066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7897205" cy="4772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  <a:r>
                <a:rPr lang="en-US" sz="28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Next.js 14 + FastAPI</a:t>
              </a:r>
            </a:p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Rewrites proxy /api/* → backend; no CORS friction; &lt;1 ms end-to-end inference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69400"/>
            <a:ext cx="16230600" cy="1046359"/>
            <a:chOff x="0" y="0"/>
            <a:chExt cx="37274393" cy="24030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74395" cy="2403017"/>
            </a:xfrm>
            <a:custGeom>
              <a:avLst/>
              <a:gdLst/>
              <a:ahLst/>
              <a:cxnLst/>
              <a:rect r="r" b="b" t="t" l="l"/>
              <a:pathLst>
                <a:path h="2403017" w="37274395">
                  <a:moveTo>
                    <a:pt x="7155" y="0"/>
                  </a:moveTo>
                  <a:lnTo>
                    <a:pt x="37267238" y="0"/>
                  </a:lnTo>
                  <a:cubicBezTo>
                    <a:pt x="37269136" y="0"/>
                    <a:pt x="37270956" y="754"/>
                    <a:pt x="37272299" y="2096"/>
                  </a:cubicBezTo>
                  <a:cubicBezTo>
                    <a:pt x="37273641" y="3437"/>
                    <a:pt x="37274395" y="5257"/>
                    <a:pt x="37274395" y="7155"/>
                  </a:cubicBezTo>
                  <a:lnTo>
                    <a:pt x="37274395" y="2395862"/>
                  </a:lnTo>
                  <a:cubicBezTo>
                    <a:pt x="37274395" y="2399814"/>
                    <a:pt x="37271192" y="2403017"/>
                    <a:pt x="37267238" y="2403017"/>
                  </a:cubicBezTo>
                  <a:lnTo>
                    <a:pt x="7155" y="2403017"/>
                  </a:lnTo>
                  <a:cubicBezTo>
                    <a:pt x="5257" y="2403017"/>
                    <a:pt x="3437" y="2402263"/>
                    <a:pt x="2096" y="2400921"/>
                  </a:cubicBezTo>
                  <a:cubicBezTo>
                    <a:pt x="754" y="2399580"/>
                    <a:pt x="0" y="2397760"/>
                    <a:pt x="0" y="2395862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37274393" cy="2469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956"/>
                </a:lnSpc>
                <a:spcBef>
                  <a:spcPct val="0"/>
                </a:spcBef>
              </a:pPr>
              <a:r>
                <a:rPr lang="en-US" b="true" sz="3540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Results and Sample Predictions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915173"/>
            <a:ext cx="7149873" cy="804368"/>
            <a:chOff x="0" y="0"/>
            <a:chExt cx="16420045" cy="1847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20044" cy="1847271"/>
            </a:xfrm>
            <a:custGeom>
              <a:avLst/>
              <a:gdLst/>
              <a:ahLst/>
              <a:cxnLst/>
              <a:rect r="r" b="b" t="t" l="l"/>
              <a:pathLst>
                <a:path h="1847271" w="16420044">
                  <a:moveTo>
                    <a:pt x="17325" y="0"/>
                  </a:moveTo>
                  <a:lnTo>
                    <a:pt x="16402720" y="0"/>
                  </a:lnTo>
                  <a:cubicBezTo>
                    <a:pt x="16407315" y="0"/>
                    <a:pt x="16411721" y="1825"/>
                    <a:pt x="16414970" y="5074"/>
                  </a:cubicBezTo>
                  <a:cubicBezTo>
                    <a:pt x="16418220" y="8323"/>
                    <a:pt x="16420044" y="12730"/>
                    <a:pt x="16420044" y="17325"/>
                  </a:cubicBezTo>
                  <a:lnTo>
                    <a:pt x="16420044" y="1829946"/>
                  </a:lnTo>
                  <a:cubicBezTo>
                    <a:pt x="16420044" y="1839514"/>
                    <a:pt x="16412288" y="1847271"/>
                    <a:pt x="16402720" y="1847271"/>
                  </a:cubicBezTo>
                  <a:lnTo>
                    <a:pt x="17325" y="1847271"/>
                  </a:lnTo>
                  <a:cubicBezTo>
                    <a:pt x="7757" y="1847271"/>
                    <a:pt x="0" y="1839514"/>
                    <a:pt x="0" y="1829946"/>
                  </a:cubicBezTo>
                  <a:lnTo>
                    <a:pt x="0" y="17325"/>
                  </a:lnTo>
                  <a:cubicBezTo>
                    <a:pt x="0" y="7757"/>
                    <a:pt x="7757" y="0"/>
                    <a:pt x="1732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6420045" cy="1875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Qualitative Hybrid-Score Validation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212056" y="3168888"/>
            <a:ext cx="12634869" cy="1274188"/>
            <a:chOff x="0" y="0"/>
            <a:chExt cx="29016614" cy="29262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016613" cy="2926238"/>
            </a:xfrm>
            <a:custGeom>
              <a:avLst/>
              <a:gdLst/>
              <a:ahLst/>
              <a:cxnLst/>
              <a:rect r="r" b="b" t="t" l="l"/>
              <a:pathLst>
                <a:path h="2926238" w="29016613">
                  <a:moveTo>
                    <a:pt x="9804" y="0"/>
                  </a:moveTo>
                  <a:lnTo>
                    <a:pt x="29006809" y="0"/>
                  </a:lnTo>
                  <a:cubicBezTo>
                    <a:pt x="29009411" y="0"/>
                    <a:pt x="29011904" y="1033"/>
                    <a:pt x="29013742" y="2871"/>
                  </a:cubicBezTo>
                  <a:cubicBezTo>
                    <a:pt x="29015581" y="4710"/>
                    <a:pt x="29016613" y="7204"/>
                    <a:pt x="29016613" y="9804"/>
                  </a:cubicBezTo>
                  <a:lnTo>
                    <a:pt x="29016613" y="2916434"/>
                  </a:lnTo>
                  <a:cubicBezTo>
                    <a:pt x="29016613" y="2921849"/>
                    <a:pt x="29012223" y="2926238"/>
                    <a:pt x="29006809" y="2926238"/>
                  </a:cubicBezTo>
                  <a:lnTo>
                    <a:pt x="9804" y="2926238"/>
                  </a:lnTo>
                  <a:cubicBezTo>
                    <a:pt x="7204" y="2926238"/>
                    <a:pt x="4710" y="2925205"/>
                    <a:pt x="2871" y="2923366"/>
                  </a:cubicBezTo>
                  <a:cubicBezTo>
                    <a:pt x="1033" y="2921528"/>
                    <a:pt x="0" y="2919034"/>
                    <a:pt x="0" y="2916434"/>
                  </a:cubicBezTo>
                  <a:lnTo>
                    <a:pt x="0" y="9804"/>
                  </a:lnTo>
                  <a:cubicBezTo>
                    <a:pt x="0" y="7204"/>
                    <a:pt x="1033" y="4710"/>
                    <a:pt x="2871" y="2871"/>
                  </a:cubicBezTo>
                  <a:cubicBezTo>
                    <a:pt x="4710" y="1033"/>
                    <a:pt x="7204" y="0"/>
                    <a:pt x="980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9016614" cy="2954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Our research clearly shows the result; we verified every step with the data.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12056" y="4840030"/>
            <a:ext cx="12634869" cy="1244930"/>
            <a:chOff x="0" y="0"/>
            <a:chExt cx="29016614" cy="28590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016613" cy="2859044"/>
            </a:xfrm>
            <a:custGeom>
              <a:avLst/>
              <a:gdLst/>
              <a:ahLst/>
              <a:cxnLst/>
              <a:rect r="r" b="b" t="t" l="l"/>
              <a:pathLst>
                <a:path h="2859044" w="29016613">
                  <a:moveTo>
                    <a:pt x="9804" y="0"/>
                  </a:moveTo>
                  <a:lnTo>
                    <a:pt x="29006809" y="0"/>
                  </a:lnTo>
                  <a:cubicBezTo>
                    <a:pt x="29009411" y="0"/>
                    <a:pt x="29011904" y="1033"/>
                    <a:pt x="29013742" y="2871"/>
                  </a:cubicBezTo>
                  <a:cubicBezTo>
                    <a:pt x="29015581" y="4710"/>
                    <a:pt x="29016613" y="7204"/>
                    <a:pt x="29016613" y="9804"/>
                  </a:cubicBezTo>
                  <a:lnTo>
                    <a:pt x="29016613" y="2849240"/>
                  </a:lnTo>
                  <a:cubicBezTo>
                    <a:pt x="29016613" y="2854654"/>
                    <a:pt x="29012223" y="2859044"/>
                    <a:pt x="29006809" y="2859044"/>
                  </a:cubicBezTo>
                  <a:lnTo>
                    <a:pt x="9804" y="2859044"/>
                  </a:lnTo>
                  <a:cubicBezTo>
                    <a:pt x="7204" y="2859044"/>
                    <a:pt x="4710" y="2858011"/>
                    <a:pt x="2871" y="2856172"/>
                  </a:cubicBezTo>
                  <a:cubicBezTo>
                    <a:pt x="1033" y="2854334"/>
                    <a:pt x="0" y="2851840"/>
                    <a:pt x="0" y="2849240"/>
                  </a:cubicBezTo>
                  <a:lnTo>
                    <a:pt x="0" y="9804"/>
                  </a:lnTo>
                  <a:cubicBezTo>
                    <a:pt x="0" y="7204"/>
                    <a:pt x="1033" y="4710"/>
                    <a:pt x="2871" y="2871"/>
                  </a:cubicBezTo>
                  <a:cubicBezTo>
                    <a:pt x="4710" y="1033"/>
                    <a:pt x="7204" y="0"/>
                    <a:pt x="980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9016614" cy="2887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The model takes text as input and returns a percentage.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212056" y="6532635"/>
            <a:ext cx="12634869" cy="1244930"/>
            <a:chOff x="0" y="0"/>
            <a:chExt cx="29016614" cy="28590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016613" cy="2859044"/>
            </a:xfrm>
            <a:custGeom>
              <a:avLst/>
              <a:gdLst/>
              <a:ahLst/>
              <a:cxnLst/>
              <a:rect r="r" b="b" t="t" l="l"/>
              <a:pathLst>
                <a:path h="2859044" w="29016613">
                  <a:moveTo>
                    <a:pt x="9804" y="0"/>
                  </a:moveTo>
                  <a:lnTo>
                    <a:pt x="29006809" y="0"/>
                  </a:lnTo>
                  <a:cubicBezTo>
                    <a:pt x="29009411" y="0"/>
                    <a:pt x="29011904" y="1033"/>
                    <a:pt x="29013742" y="2871"/>
                  </a:cubicBezTo>
                  <a:cubicBezTo>
                    <a:pt x="29015581" y="4710"/>
                    <a:pt x="29016613" y="7204"/>
                    <a:pt x="29016613" y="9804"/>
                  </a:cubicBezTo>
                  <a:lnTo>
                    <a:pt x="29016613" y="2849240"/>
                  </a:lnTo>
                  <a:cubicBezTo>
                    <a:pt x="29016613" y="2854654"/>
                    <a:pt x="29012223" y="2859044"/>
                    <a:pt x="29006809" y="2859044"/>
                  </a:cubicBezTo>
                  <a:lnTo>
                    <a:pt x="9804" y="2859044"/>
                  </a:lnTo>
                  <a:cubicBezTo>
                    <a:pt x="7204" y="2859044"/>
                    <a:pt x="4710" y="2858011"/>
                    <a:pt x="2871" y="2856172"/>
                  </a:cubicBezTo>
                  <a:cubicBezTo>
                    <a:pt x="1033" y="2854334"/>
                    <a:pt x="0" y="2851840"/>
                    <a:pt x="0" y="2849240"/>
                  </a:cubicBezTo>
                  <a:lnTo>
                    <a:pt x="0" y="9804"/>
                  </a:lnTo>
                  <a:cubicBezTo>
                    <a:pt x="0" y="7204"/>
                    <a:pt x="1033" y="4710"/>
                    <a:pt x="2871" y="2871"/>
                  </a:cubicBezTo>
                  <a:cubicBezTo>
                    <a:pt x="4710" y="1033"/>
                    <a:pt x="7204" y="0"/>
                    <a:pt x="980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9016614" cy="2887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 think this might work, but I am not entirely sure.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12056" y="8225240"/>
            <a:ext cx="12634869" cy="1244930"/>
            <a:chOff x="0" y="0"/>
            <a:chExt cx="29016614" cy="2859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016613" cy="2859044"/>
            </a:xfrm>
            <a:custGeom>
              <a:avLst/>
              <a:gdLst/>
              <a:ahLst/>
              <a:cxnLst/>
              <a:rect r="r" b="b" t="t" l="l"/>
              <a:pathLst>
                <a:path h="2859044" w="29016613">
                  <a:moveTo>
                    <a:pt x="9804" y="0"/>
                  </a:moveTo>
                  <a:lnTo>
                    <a:pt x="29006809" y="0"/>
                  </a:lnTo>
                  <a:cubicBezTo>
                    <a:pt x="29009411" y="0"/>
                    <a:pt x="29011904" y="1033"/>
                    <a:pt x="29013742" y="2871"/>
                  </a:cubicBezTo>
                  <a:cubicBezTo>
                    <a:pt x="29015581" y="4710"/>
                    <a:pt x="29016613" y="7204"/>
                    <a:pt x="29016613" y="9804"/>
                  </a:cubicBezTo>
                  <a:lnTo>
                    <a:pt x="29016613" y="2849240"/>
                  </a:lnTo>
                  <a:cubicBezTo>
                    <a:pt x="29016613" y="2854654"/>
                    <a:pt x="29012223" y="2859044"/>
                    <a:pt x="29006809" y="2859044"/>
                  </a:cubicBezTo>
                  <a:lnTo>
                    <a:pt x="9804" y="2859044"/>
                  </a:lnTo>
                  <a:cubicBezTo>
                    <a:pt x="7204" y="2859044"/>
                    <a:pt x="4710" y="2858011"/>
                    <a:pt x="2871" y="2856172"/>
                  </a:cubicBezTo>
                  <a:cubicBezTo>
                    <a:pt x="1033" y="2854334"/>
                    <a:pt x="0" y="2851840"/>
                    <a:pt x="0" y="2849240"/>
                  </a:cubicBezTo>
                  <a:lnTo>
                    <a:pt x="0" y="9804"/>
                  </a:lnTo>
                  <a:cubicBezTo>
                    <a:pt x="0" y="7204"/>
                    <a:pt x="1033" y="4710"/>
                    <a:pt x="2871" y="2871"/>
                  </a:cubicBezTo>
                  <a:cubicBezTo>
                    <a:pt x="4710" y="1033"/>
                    <a:pt x="7204" y="0"/>
                    <a:pt x="980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9016614" cy="2887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Maybe we could try it, perhaps it helps, I kind of guess it works.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60500" y="3168888"/>
            <a:ext cx="1451556" cy="1252677"/>
            <a:chOff x="0" y="0"/>
            <a:chExt cx="573025" cy="4945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3025" cy="494514"/>
            </a:xfrm>
            <a:custGeom>
              <a:avLst/>
              <a:gdLst/>
              <a:ahLst/>
              <a:cxnLst/>
              <a:rect r="r" b="b" t="t" l="l"/>
              <a:pathLst>
                <a:path h="494514" w="573025">
                  <a:moveTo>
                    <a:pt x="0" y="0"/>
                  </a:moveTo>
                  <a:lnTo>
                    <a:pt x="573025" y="0"/>
                  </a:lnTo>
                  <a:lnTo>
                    <a:pt x="573025" y="494514"/>
                  </a:lnTo>
                  <a:lnTo>
                    <a:pt x="0" y="494514"/>
                  </a:ln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573025" cy="475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07"/>
                </a:lnSpc>
              </a:pPr>
              <a:r>
                <a:rPr lang="en-US" b="true" sz="3399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54.7%</a:t>
              </a:r>
            </a:p>
            <a:p>
              <a:pPr algn="ctr" marL="0" indent="0" lvl="0">
                <a:lnSpc>
                  <a:spcPts val="2912"/>
                </a:lnSpc>
              </a:pPr>
              <a:r>
                <a:rPr lang="en-US" b="true" sz="2600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MEDIUM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60500" y="4832283"/>
            <a:ext cx="1451556" cy="1252677"/>
            <a:chOff x="0" y="0"/>
            <a:chExt cx="573025" cy="4945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3025" cy="494514"/>
            </a:xfrm>
            <a:custGeom>
              <a:avLst/>
              <a:gdLst/>
              <a:ahLst/>
              <a:cxnLst/>
              <a:rect r="r" b="b" t="t" l="l"/>
              <a:pathLst>
                <a:path h="494514" w="573025">
                  <a:moveTo>
                    <a:pt x="0" y="0"/>
                  </a:moveTo>
                  <a:lnTo>
                    <a:pt x="573025" y="0"/>
                  </a:lnTo>
                  <a:lnTo>
                    <a:pt x="573025" y="494514"/>
                  </a:lnTo>
                  <a:lnTo>
                    <a:pt x="0" y="494514"/>
                  </a:ln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573025" cy="475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07"/>
                </a:lnSpc>
              </a:pPr>
              <a:r>
                <a:rPr lang="en-US" b="true" sz="3399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41.4%</a:t>
              </a:r>
            </a:p>
            <a:p>
              <a:pPr algn="ctr" marL="0" indent="0" lvl="0">
                <a:lnSpc>
                  <a:spcPts val="2912"/>
                </a:lnSpc>
              </a:pPr>
              <a:r>
                <a:rPr lang="en-US" b="true" sz="2600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MEDIUM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60500" y="6524888"/>
            <a:ext cx="1451556" cy="1252677"/>
            <a:chOff x="0" y="0"/>
            <a:chExt cx="573025" cy="49451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3025" cy="494514"/>
            </a:xfrm>
            <a:custGeom>
              <a:avLst/>
              <a:gdLst/>
              <a:ahLst/>
              <a:cxnLst/>
              <a:rect r="r" b="b" t="t" l="l"/>
              <a:pathLst>
                <a:path h="494514" w="573025">
                  <a:moveTo>
                    <a:pt x="0" y="0"/>
                  </a:moveTo>
                  <a:lnTo>
                    <a:pt x="573025" y="0"/>
                  </a:lnTo>
                  <a:lnTo>
                    <a:pt x="573025" y="494514"/>
                  </a:lnTo>
                  <a:lnTo>
                    <a:pt x="0" y="494514"/>
                  </a:ln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573025" cy="475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07"/>
                </a:lnSpc>
              </a:pPr>
              <a:r>
                <a:rPr lang="en-US" b="true" sz="3399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29.8%</a:t>
              </a:r>
            </a:p>
            <a:p>
              <a:pPr algn="ctr" marL="0" indent="0" lvl="0">
                <a:lnSpc>
                  <a:spcPts val="2912"/>
                </a:lnSpc>
              </a:pPr>
              <a:r>
                <a:rPr lang="en-US" b="true" sz="2600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LOW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60500" y="8225240"/>
            <a:ext cx="1451556" cy="1252677"/>
            <a:chOff x="0" y="0"/>
            <a:chExt cx="573025" cy="49451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3025" cy="494514"/>
            </a:xfrm>
            <a:custGeom>
              <a:avLst/>
              <a:gdLst/>
              <a:ahLst/>
              <a:cxnLst/>
              <a:rect r="r" b="b" t="t" l="l"/>
              <a:pathLst>
                <a:path h="494514" w="573025">
                  <a:moveTo>
                    <a:pt x="0" y="0"/>
                  </a:moveTo>
                  <a:lnTo>
                    <a:pt x="573025" y="0"/>
                  </a:lnTo>
                  <a:lnTo>
                    <a:pt x="573025" y="494514"/>
                  </a:lnTo>
                  <a:lnTo>
                    <a:pt x="0" y="494514"/>
                  </a:ln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573025" cy="475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07"/>
                </a:lnSpc>
              </a:pPr>
              <a:r>
                <a:rPr lang="en-US" b="true" sz="3399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28.2%</a:t>
              </a:r>
            </a:p>
            <a:p>
              <a:pPr algn="ctr" marL="0" indent="0" lvl="0">
                <a:lnSpc>
                  <a:spcPts val="2912"/>
                </a:lnSpc>
              </a:pPr>
              <a:r>
                <a:rPr lang="en-US" b="true" sz="2600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LOW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40965" y="211096"/>
            <a:ext cx="6912716" cy="817604"/>
            <a:chOff x="0" y="0"/>
            <a:chExt cx="15875402" cy="1877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75402" cy="1877668"/>
            </a:xfrm>
            <a:custGeom>
              <a:avLst/>
              <a:gdLst/>
              <a:ahLst/>
              <a:cxnLst/>
              <a:rect r="r" b="b" t="t" l="l"/>
              <a:pathLst>
                <a:path h="1877668" w="15875402">
                  <a:moveTo>
                    <a:pt x="16799" y="0"/>
                  </a:moveTo>
                  <a:lnTo>
                    <a:pt x="15858603" y="0"/>
                  </a:lnTo>
                  <a:cubicBezTo>
                    <a:pt x="15863058" y="0"/>
                    <a:pt x="15867331" y="1770"/>
                    <a:pt x="15870481" y="4920"/>
                  </a:cubicBezTo>
                  <a:cubicBezTo>
                    <a:pt x="15873631" y="8071"/>
                    <a:pt x="15875402" y="12344"/>
                    <a:pt x="15875402" y="16799"/>
                  </a:cubicBezTo>
                  <a:lnTo>
                    <a:pt x="15875402" y="1860869"/>
                  </a:lnTo>
                  <a:cubicBezTo>
                    <a:pt x="15875402" y="1865324"/>
                    <a:pt x="15873631" y="1869597"/>
                    <a:pt x="15870481" y="1872748"/>
                  </a:cubicBezTo>
                  <a:cubicBezTo>
                    <a:pt x="15867331" y="1875898"/>
                    <a:pt x="15863058" y="1877668"/>
                    <a:pt x="15858603" y="1877668"/>
                  </a:cubicBezTo>
                  <a:lnTo>
                    <a:pt x="16799" y="1877668"/>
                  </a:lnTo>
                  <a:cubicBezTo>
                    <a:pt x="12344" y="1877668"/>
                    <a:pt x="8071" y="1875898"/>
                    <a:pt x="4920" y="1872748"/>
                  </a:cubicBezTo>
                  <a:cubicBezTo>
                    <a:pt x="1770" y="1869597"/>
                    <a:pt x="0" y="1865324"/>
                    <a:pt x="0" y="1860869"/>
                  </a:cubicBezTo>
                  <a:lnTo>
                    <a:pt x="0" y="16799"/>
                  </a:lnTo>
                  <a:cubicBezTo>
                    <a:pt x="0" y="12344"/>
                    <a:pt x="1770" y="8071"/>
                    <a:pt x="4920" y="4920"/>
                  </a:cubicBezTo>
                  <a:cubicBezTo>
                    <a:pt x="8071" y="1770"/>
                    <a:pt x="12344" y="0"/>
                    <a:pt x="16799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875402" cy="19443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536"/>
                </a:lnSpc>
                <a:spcBef>
                  <a:spcPct val="0"/>
                </a:spcBef>
              </a:pPr>
              <a:r>
                <a:rPr lang="en-US" b="true" sz="3240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Results 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1762565"/>
            <a:ext cx="9050852" cy="8524435"/>
          </a:xfrm>
          <a:custGeom>
            <a:avLst/>
            <a:gdLst/>
            <a:ahLst/>
            <a:cxnLst/>
            <a:rect r="r" b="b" t="t" l="l"/>
            <a:pathLst>
              <a:path h="8524435" w="9050852">
                <a:moveTo>
                  <a:pt x="0" y="0"/>
                </a:moveTo>
                <a:lnTo>
                  <a:pt x="9050852" y="0"/>
                </a:lnTo>
                <a:lnTo>
                  <a:pt x="9050852" y="8524435"/>
                </a:lnTo>
                <a:lnTo>
                  <a:pt x="0" y="8524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25" r="0" b="-202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50852" y="3074345"/>
            <a:ext cx="9144000" cy="5063490"/>
          </a:xfrm>
          <a:custGeom>
            <a:avLst/>
            <a:gdLst/>
            <a:ahLst/>
            <a:cxnLst/>
            <a:rect r="r" b="b" t="t" l="l"/>
            <a:pathLst>
              <a:path h="5063490" w="9144000">
                <a:moveTo>
                  <a:pt x="0" y="0"/>
                </a:moveTo>
                <a:lnTo>
                  <a:pt x="9144000" y="0"/>
                </a:lnTo>
                <a:lnTo>
                  <a:pt x="9144000" y="5063490"/>
                </a:lnTo>
                <a:lnTo>
                  <a:pt x="0" y="506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40965" y="211096"/>
            <a:ext cx="6912716" cy="817604"/>
            <a:chOff x="0" y="0"/>
            <a:chExt cx="15875402" cy="18776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75402" cy="1877668"/>
            </a:xfrm>
            <a:custGeom>
              <a:avLst/>
              <a:gdLst/>
              <a:ahLst/>
              <a:cxnLst/>
              <a:rect r="r" b="b" t="t" l="l"/>
              <a:pathLst>
                <a:path h="1877668" w="15875402">
                  <a:moveTo>
                    <a:pt x="16799" y="0"/>
                  </a:moveTo>
                  <a:lnTo>
                    <a:pt x="15858603" y="0"/>
                  </a:lnTo>
                  <a:cubicBezTo>
                    <a:pt x="15863058" y="0"/>
                    <a:pt x="15867331" y="1770"/>
                    <a:pt x="15870481" y="4920"/>
                  </a:cubicBezTo>
                  <a:cubicBezTo>
                    <a:pt x="15873631" y="8071"/>
                    <a:pt x="15875402" y="12344"/>
                    <a:pt x="15875402" y="16799"/>
                  </a:cubicBezTo>
                  <a:lnTo>
                    <a:pt x="15875402" y="1860869"/>
                  </a:lnTo>
                  <a:cubicBezTo>
                    <a:pt x="15875402" y="1865324"/>
                    <a:pt x="15873631" y="1869597"/>
                    <a:pt x="15870481" y="1872748"/>
                  </a:cubicBezTo>
                  <a:cubicBezTo>
                    <a:pt x="15867331" y="1875898"/>
                    <a:pt x="15863058" y="1877668"/>
                    <a:pt x="15858603" y="1877668"/>
                  </a:cubicBezTo>
                  <a:lnTo>
                    <a:pt x="16799" y="1877668"/>
                  </a:lnTo>
                  <a:cubicBezTo>
                    <a:pt x="12344" y="1877668"/>
                    <a:pt x="8071" y="1875898"/>
                    <a:pt x="4920" y="1872748"/>
                  </a:cubicBezTo>
                  <a:cubicBezTo>
                    <a:pt x="1770" y="1869597"/>
                    <a:pt x="0" y="1865324"/>
                    <a:pt x="0" y="1860869"/>
                  </a:cubicBezTo>
                  <a:lnTo>
                    <a:pt x="0" y="16799"/>
                  </a:lnTo>
                  <a:cubicBezTo>
                    <a:pt x="0" y="12344"/>
                    <a:pt x="1770" y="8071"/>
                    <a:pt x="4920" y="4920"/>
                  </a:cubicBezTo>
                  <a:cubicBezTo>
                    <a:pt x="8071" y="1770"/>
                    <a:pt x="12344" y="0"/>
                    <a:pt x="16799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875402" cy="19443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536"/>
                </a:lnSpc>
                <a:spcBef>
                  <a:spcPct val="0"/>
                </a:spcBef>
              </a:pPr>
              <a:r>
                <a:rPr lang="en-US" b="true" sz="3240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Results 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518" y="2543112"/>
            <a:ext cx="9056482" cy="5773507"/>
          </a:xfrm>
          <a:custGeom>
            <a:avLst/>
            <a:gdLst/>
            <a:ahLst/>
            <a:cxnLst/>
            <a:rect r="r" b="b" t="t" l="l"/>
            <a:pathLst>
              <a:path h="5773507" w="9056482">
                <a:moveTo>
                  <a:pt x="0" y="0"/>
                </a:moveTo>
                <a:lnTo>
                  <a:pt x="9056482" y="0"/>
                </a:lnTo>
                <a:lnTo>
                  <a:pt x="9056482" y="5773507"/>
                </a:lnTo>
                <a:lnTo>
                  <a:pt x="0" y="5773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2543112"/>
            <a:ext cx="9144000" cy="4994910"/>
          </a:xfrm>
          <a:custGeom>
            <a:avLst/>
            <a:gdLst/>
            <a:ahLst/>
            <a:cxnLst/>
            <a:rect r="r" b="b" t="t" l="l"/>
            <a:pathLst>
              <a:path h="4994910" w="9144000">
                <a:moveTo>
                  <a:pt x="0" y="0"/>
                </a:moveTo>
                <a:lnTo>
                  <a:pt x="9144000" y="0"/>
                </a:lnTo>
                <a:lnTo>
                  <a:pt x="9144000" y="4994910"/>
                </a:lnTo>
                <a:lnTo>
                  <a:pt x="0" y="4994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16943" y="2358124"/>
            <a:ext cx="7342357" cy="7605075"/>
            <a:chOff x="0" y="0"/>
            <a:chExt cx="16862095" cy="17465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62095" cy="17465439"/>
            </a:xfrm>
            <a:custGeom>
              <a:avLst/>
              <a:gdLst/>
              <a:ahLst/>
              <a:cxnLst/>
              <a:rect r="r" b="b" t="t" l="l"/>
              <a:pathLst>
                <a:path h="17465439" w="16862095">
                  <a:moveTo>
                    <a:pt x="53775" y="0"/>
                  </a:moveTo>
                  <a:lnTo>
                    <a:pt x="16808320" y="0"/>
                  </a:lnTo>
                  <a:cubicBezTo>
                    <a:pt x="16838019" y="0"/>
                    <a:pt x="16862095" y="24076"/>
                    <a:pt x="16862095" y="53775"/>
                  </a:cubicBezTo>
                  <a:lnTo>
                    <a:pt x="16862095" y="17411664"/>
                  </a:lnTo>
                  <a:cubicBezTo>
                    <a:pt x="16862095" y="17441363"/>
                    <a:pt x="16838019" y="17465439"/>
                    <a:pt x="16808320" y="17465439"/>
                  </a:cubicBezTo>
                  <a:lnTo>
                    <a:pt x="53775" y="17465439"/>
                  </a:lnTo>
                  <a:cubicBezTo>
                    <a:pt x="24076" y="17465439"/>
                    <a:pt x="0" y="17441363"/>
                    <a:pt x="0" y="17411664"/>
                  </a:cubicBezTo>
                  <a:lnTo>
                    <a:pt x="0" y="53775"/>
                  </a:lnTo>
                  <a:cubicBezTo>
                    <a:pt x="0" y="24076"/>
                    <a:pt x="24076" y="0"/>
                    <a:pt x="53775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6862095" cy="17455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032788" y="727002"/>
            <a:ext cx="3375003" cy="2075399"/>
            <a:chOff x="0" y="0"/>
            <a:chExt cx="812800" cy="4998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99817"/>
            </a:xfrm>
            <a:custGeom>
              <a:avLst/>
              <a:gdLst/>
              <a:ahLst/>
              <a:cxnLst/>
              <a:rect r="r" b="b" t="t" l="l"/>
              <a:pathLst>
                <a:path h="499817" w="812800">
                  <a:moveTo>
                    <a:pt x="406400" y="0"/>
                  </a:moveTo>
                  <a:cubicBezTo>
                    <a:pt x="181951" y="0"/>
                    <a:pt x="0" y="111888"/>
                    <a:pt x="0" y="249909"/>
                  </a:cubicBezTo>
                  <a:cubicBezTo>
                    <a:pt x="0" y="387929"/>
                    <a:pt x="181951" y="499817"/>
                    <a:pt x="406400" y="499817"/>
                  </a:cubicBezTo>
                  <a:cubicBezTo>
                    <a:pt x="630849" y="499817"/>
                    <a:pt x="812800" y="387929"/>
                    <a:pt x="812800" y="249909"/>
                  </a:cubicBezTo>
                  <a:cubicBezTo>
                    <a:pt x="812800" y="11188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75433"/>
              <a:ext cx="660400" cy="377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250"/>
                </a:lnSpc>
              </a:pPr>
              <a:r>
                <a:rPr lang="en-US" b="true" sz="3795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FUTURE WORK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57298" y="2893037"/>
            <a:ext cx="5861646" cy="1642568"/>
            <a:chOff x="0" y="0"/>
            <a:chExt cx="13461567" cy="377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61567" cy="3772240"/>
            </a:xfrm>
            <a:custGeom>
              <a:avLst/>
              <a:gdLst/>
              <a:ahLst/>
              <a:cxnLst/>
              <a:rect r="r" b="b" t="t" l="l"/>
              <a:pathLst>
                <a:path h="3772240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704880"/>
                  </a:lnTo>
                  <a:cubicBezTo>
                    <a:pt x="13461567" y="3722745"/>
                    <a:pt x="13454470" y="3739878"/>
                    <a:pt x="13441838" y="3752511"/>
                  </a:cubicBezTo>
                  <a:cubicBezTo>
                    <a:pt x="13429207" y="3765143"/>
                    <a:pt x="13412073" y="3772240"/>
                    <a:pt x="13394207" y="3772240"/>
                  </a:cubicBezTo>
                  <a:lnTo>
                    <a:pt x="67360" y="3772240"/>
                  </a:lnTo>
                  <a:cubicBezTo>
                    <a:pt x="49495" y="3772240"/>
                    <a:pt x="32362" y="3765143"/>
                    <a:pt x="19729" y="3752511"/>
                  </a:cubicBezTo>
                  <a:cubicBezTo>
                    <a:pt x="7097" y="3739878"/>
                    <a:pt x="0" y="3722745"/>
                    <a:pt x="0" y="3704880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3461567" cy="3800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Integrate audio features: MFCCs, pitch variance, speech rate via librosa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57298" y="4672108"/>
            <a:ext cx="5861646" cy="1642568"/>
            <a:chOff x="0" y="0"/>
            <a:chExt cx="13461567" cy="3772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61567" cy="3772240"/>
            </a:xfrm>
            <a:custGeom>
              <a:avLst/>
              <a:gdLst/>
              <a:ahLst/>
              <a:cxnLst/>
              <a:rect r="r" b="b" t="t" l="l"/>
              <a:pathLst>
                <a:path h="3772240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704880"/>
                  </a:lnTo>
                  <a:cubicBezTo>
                    <a:pt x="13461567" y="3722745"/>
                    <a:pt x="13454470" y="3739878"/>
                    <a:pt x="13441838" y="3752511"/>
                  </a:cubicBezTo>
                  <a:cubicBezTo>
                    <a:pt x="13429207" y="3765143"/>
                    <a:pt x="13412073" y="3772240"/>
                    <a:pt x="13394207" y="3772240"/>
                  </a:cubicBezTo>
                  <a:lnTo>
                    <a:pt x="67360" y="3772240"/>
                  </a:lnTo>
                  <a:cubicBezTo>
                    <a:pt x="49495" y="3772240"/>
                    <a:pt x="32362" y="3765143"/>
                    <a:pt x="19729" y="3752511"/>
                  </a:cubicBezTo>
                  <a:cubicBezTo>
                    <a:pt x="7097" y="3739878"/>
                    <a:pt x="0" y="3722745"/>
                    <a:pt x="0" y="3704880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3461567" cy="3800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Fine-tune RoBERTa on a larger, balanced confidence-labelled corpus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57298" y="6451180"/>
            <a:ext cx="5861646" cy="1362018"/>
            <a:chOff x="0" y="0"/>
            <a:chExt cx="13461567" cy="31279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61567" cy="3127943"/>
            </a:xfrm>
            <a:custGeom>
              <a:avLst/>
              <a:gdLst/>
              <a:ahLst/>
              <a:cxnLst/>
              <a:rect r="r" b="b" t="t" l="l"/>
              <a:pathLst>
                <a:path h="3127943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060583"/>
                  </a:lnTo>
                  <a:cubicBezTo>
                    <a:pt x="13461567" y="3078448"/>
                    <a:pt x="13454470" y="3095581"/>
                    <a:pt x="13441838" y="3108214"/>
                  </a:cubicBezTo>
                  <a:cubicBezTo>
                    <a:pt x="13429207" y="3120846"/>
                    <a:pt x="13412073" y="3127943"/>
                    <a:pt x="13394207" y="3127943"/>
                  </a:cubicBezTo>
                  <a:lnTo>
                    <a:pt x="67360" y="3127943"/>
                  </a:lnTo>
                  <a:cubicBezTo>
                    <a:pt x="49495" y="3127943"/>
                    <a:pt x="32362" y="3120846"/>
                    <a:pt x="19729" y="3108214"/>
                  </a:cubicBezTo>
                  <a:cubicBezTo>
                    <a:pt x="7097" y="3095581"/>
                    <a:pt x="0" y="3078448"/>
                    <a:pt x="0" y="3060583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461567" cy="315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Multi-lingual support with language-specific lexicons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9992" y="2358124"/>
            <a:ext cx="7342357" cy="7605075"/>
            <a:chOff x="0" y="0"/>
            <a:chExt cx="16862095" cy="17465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862095" cy="17465439"/>
            </a:xfrm>
            <a:custGeom>
              <a:avLst/>
              <a:gdLst/>
              <a:ahLst/>
              <a:cxnLst/>
              <a:rect r="r" b="b" t="t" l="l"/>
              <a:pathLst>
                <a:path h="17465439" w="16862095">
                  <a:moveTo>
                    <a:pt x="53775" y="0"/>
                  </a:moveTo>
                  <a:lnTo>
                    <a:pt x="16808320" y="0"/>
                  </a:lnTo>
                  <a:cubicBezTo>
                    <a:pt x="16838019" y="0"/>
                    <a:pt x="16862095" y="24076"/>
                    <a:pt x="16862095" y="53775"/>
                  </a:cubicBezTo>
                  <a:lnTo>
                    <a:pt x="16862095" y="17411664"/>
                  </a:lnTo>
                  <a:cubicBezTo>
                    <a:pt x="16862095" y="17441363"/>
                    <a:pt x="16838019" y="17465439"/>
                    <a:pt x="16808320" y="17465439"/>
                  </a:cubicBezTo>
                  <a:lnTo>
                    <a:pt x="53775" y="17465439"/>
                  </a:lnTo>
                  <a:cubicBezTo>
                    <a:pt x="24076" y="17465439"/>
                    <a:pt x="0" y="17441363"/>
                    <a:pt x="0" y="17411664"/>
                  </a:cubicBezTo>
                  <a:lnTo>
                    <a:pt x="0" y="53775"/>
                  </a:lnTo>
                  <a:cubicBezTo>
                    <a:pt x="0" y="24076"/>
                    <a:pt x="24076" y="0"/>
                    <a:pt x="53775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6862095" cy="17455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153670" y="727002"/>
            <a:ext cx="3375003" cy="2075399"/>
            <a:chOff x="0" y="0"/>
            <a:chExt cx="812800" cy="4998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499817"/>
            </a:xfrm>
            <a:custGeom>
              <a:avLst/>
              <a:gdLst/>
              <a:ahLst/>
              <a:cxnLst/>
              <a:rect r="r" b="b" t="t" l="l"/>
              <a:pathLst>
                <a:path h="499817" w="812800">
                  <a:moveTo>
                    <a:pt x="406400" y="0"/>
                  </a:moveTo>
                  <a:cubicBezTo>
                    <a:pt x="181951" y="0"/>
                    <a:pt x="0" y="111888"/>
                    <a:pt x="0" y="249909"/>
                  </a:cubicBezTo>
                  <a:cubicBezTo>
                    <a:pt x="0" y="387929"/>
                    <a:pt x="181951" y="499817"/>
                    <a:pt x="406400" y="499817"/>
                  </a:cubicBezTo>
                  <a:cubicBezTo>
                    <a:pt x="630849" y="499817"/>
                    <a:pt x="812800" y="387929"/>
                    <a:pt x="812800" y="249909"/>
                  </a:cubicBezTo>
                  <a:cubicBezTo>
                    <a:pt x="812800" y="11188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75433"/>
              <a:ext cx="660400" cy="377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914"/>
                </a:lnSpc>
              </a:pPr>
              <a:r>
                <a:rPr lang="en-US" b="true" sz="3495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LIMITATION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10348" y="3056792"/>
            <a:ext cx="5861646" cy="1642568"/>
            <a:chOff x="0" y="0"/>
            <a:chExt cx="13461567" cy="37722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61567" cy="3772240"/>
            </a:xfrm>
            <a:custGeom>
              <a:avLst/>
              <a:gdLst/>
              <a:ahLst/>
              <a:cxnLst/>
              <a:rect r="r" b="b" t="t" l="l"/>
              <a:pathLst>
                <a:path h="3772240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704880"/>
                  </a:lnTo>
                  <a:cubicBezTo>
                    <a:pt x="13461567" y="3722745"/>
                    <a:pt x="13454470" y="3739878"/>
                    <a:pt x="13441838" y="3752511"/>
                  </a:cubicBezTo>
                  <a:cubicBezTo>
                    <a:pt x="13429207" y="3765143"/>
                    <a:pt x="13412073" y="3772240"/>
                    <a:pt x="13394207" y="3772240"/>
                  </a:cubicBezTo>
                  <a:lnTo>
                    <a:pt x="67360" y="3772240"/>
                  </a:lnTo>
                  <a:cubicBezTo>
                    <a:pt x="49495" y="3772240"/>
                    <a:pt x="32362" y="3765143"/>
                    <a:pt x="19729" y="3752511"/>
                  </a:cubicBezTo>
                  <a:cubicBezTo>
                    <a:pt x="7097" y="3739878"/>
                    <a:pt x="0" y="3722745"/>
                    <a:pt x="0" y="3704880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3461567" cy="3800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Dataset imbalance: Very High class (label 5) has only 191 samples vs 880 for Medium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10348" y="6314676"/>
            <a:ext cx="5861646" cy="1642568"/>
            <a:chOff x="0" y="0"/>
            <a:chExt cx="13461567" cy="3772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61567" cy="3772240"/>
            </a:xfrm>
            <a:custGeom>
              <a:avLst/>
              <a:gdLst/>
              <a:ahLst/>
              <a:cxnLst/>
              <a:rect r="r" b="b" t="t" l="l"/>
              <a:pathLst>
                <a:path h="3772240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704880"/>
                  </a:lnTo>
                  <a:cubicBezTo>
                    <a:pt x="13461567" y="3722745"/>
                    <a:pt x="13454470" y="3739878"/>
                    <a:pt x="13441838" y="3752511"/>
                  </a:cubicBezTo>
                  <a:cubicBezTo>
                    <a:pt x="13429207" y="3765143"/>
                    <a:pt x="13412073" y="3772240"/>
                    <a:pt x="13394207" y="3772240"/>
                  </a:cubicBezTo>
                  <a:lnTo>
                    <a:pt x="67360" y="3772240"/>
                  </a:lnTo>
                  <a:cubicBezTo>
                    <a:pt x="49495" y="3772240"/>
                    <a:pt x="32362" y="3765143"/>
                    <a:pt x="19729" y="3752511"/>
                  </a:cubicBezTo>
                  <a:cubicBezTo>
                    <a:pt x="7097" y="3739878"/>
                    <a:pt x="0" y="3722745"/>
                    <a:pt x="0" y="3704880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3461567" cy="3800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English-only lexicon; multi-lingual confidence cues differ significantly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10348" y="4826009"/>
            <a:ext cx="5861646" cy="1362018"/>
            <a:chOff x="0" y="0"/>
            <a:chExt cx="13461567" cy="31279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61567" cy="3127943"/>
            </a:xfrm>
            <a:custGeom>
              <a:avLst/>
              <a:gdLst/>
              <a:ahLst/>
              <a:cxnLst/>
              <a:rect r="r" b="b" t="t" l="l"/>
              <a:pathLst>
                <a:path h="3127943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060583"/>
                  </a:lnTo>
                  <a:cubicBezTo>
                    <a:pt x="13461567" y="3078448"/>
                    <a:pt x="13454470" y="3095581"/>
                    <a:pt x="13441838" y="3108214"/>
                  </a:cubicBezTo>
                  <a:cubicBezTo>
                    <a:pt x="13429207" y="3120846"/>
                    <a:pt x="13412073" y="3127943"/>
                    <a:pt x="13394207" y="3127943"/>
                  </a:cubicBezTo>
                  <a:lnTo>
                    <a:pt x="67360" y="3127943"/>
                  </a:lnTo>
                  <a:cubicBezTo>
                    <a:pt x="49495" y="3127943"/>
                    <a:pt x="32362" y="3120846"/>
                    <a:pt x="19729" y="3108214"/>
                  </a:cubicBezTo>
                  <a:cubicBezTo>
                    <a:pt x="7097" y="3095581"/>
                    <a:pt x="0" y="3078448"/>
                    <a:pt x="0" y="3060583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3461567" cy="3156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Text-only — no audio prosody, pitch, or speech rate features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10348" y="8081069"/>
            <a:ext cx="5861646" cy="1642568"/>
            <a:chOff x="0" y="0"/>
            <a:chExt cx="13461567" cy="3772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61567" cy="3772240"/>
            </a:xfrm>
            <a:custGeom>
              <a:avLst/>
              <a:gdLst/>
              <a:ahLst/>
              <a:cxnLst/>
              <a:rect r="r" b="b" t="t" l="l"/>
              <a:pathLst>
                <a:path h="3772240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704880"/>
                  </a:lnTo>
                  <a:cubicBezTo>
                    <a:pt x="13461567" y="3722745"/>
                    <a:pt x="13454470" y="3739878"/>
                    <a:pt x="13441838" y="3752511"/>
                  </a:cubicBezTo>
                  <a:cubicBezTo>
                    <a:pt x="13429207" y="3765143"/>
                    <a:pt x="13412073" y="3772240"/>
                    <a:pt x="13394207" y="3772240"/>
                  </a:cubicBezTo>
                  <a:lnTo>
                    <a:pt x="67360" y="3772240"/>
                  </a:lnTo>
                  <a:cubicBezTo>
                    <a:pt x="49495" y="3772240"/>
                    <a:pt x="32362" y="3765143"/>
                    <a:pt x="19729" y="3752511"/>
                  </a:cubicBezTo>
                  <a:cubicBezTo>
                    <a:pt x="7097" y="3739878"/>
                    <a:pt x="0" y="3722745"/>
                    <a:pt x="0" y="3704880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3461567" cy="3800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Rule lexicon may miss domain-specific jargon (medical, legal, technical)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657298" y="7957244"/>
            <a:ext cx="5861646" cy="1642568"/>
            <a:chOff x="0" y="0"/>
            <a:chExt cx="13461567" cy="3772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61567" cy="3772240"/>
            </a:xfrm>
            <a:custGeom>
              <a:avLst/>
              <a:gdLst/>
              <a:ahLst/>
              <a:cxnLst/>
              <a:rect r="r" b="b" t="t" l="l"/>
              <a:pathLst>
                <a:path h="3772240" w="13461567">
                  <a:moveTo>
                    <a:pt x="67360" y="0"/>
                  </a:moveTo>
                  <a:lnTo>
                    <a:pt x="13394207" y="0"/>
                  </a:lnTo>
                  <a:cubicBezTo>
                    <a:pt x="13431410" y="0"/>
                    <a:pt x="13461567" y="30158"/>
                    <a:pt x="13461567" y="67360"/>
                  </a:cubicBezTo>
                  <a:lnTo>
                    <a:pt x="13461567" y="3704880"/>
                  </a:lnTo>
                  <a:cubicBezTo>
                    <a:pt x="13461567" y="3722745"/>
                    <a:pt x="13454470" y="3739878"/>
                    <a:pt x="13441838" y="3752511"/>
                  </a:cubicBezTo>
                  <a:cubicBezTo>
                    <a:pt x="13429207" y="3765143"/>
                    <a:pt x="13412073" y="3772240"/>
                    <a:pt x="13394207" y="3772240"/>
                  </a:cubicBezTo>
                  <a:lnTo>
                    <a:pt x="67360" y="3772240"/>
                  </a:lnTo>
                  <a:cubicBezTo>
                    <a:pt x="49495" y="3772240"/>
                    <a:pt x="32362" y="3765143"/>
                    <a:pt x="19729" y="3752511"/>
                  </a:cubicBezTo>
                  <a:cubicBezTo>
                    <a:pt x="7097" y="3739878"/>
                    <a:pt x="0" y="3722745"/>
                    <a:pt x="0" y="3704880"/>
                  </a:cubicBezTo>
                  <a:lnTo>
                    <a:pt x="0" y="67360"/>
                  </a:lnTo>
                  <a:cubicBezTo>
                    <a:pt x="0" y="49495"/>
                    <a:pt x="7097" y="32362"/>
                    <a:pt x="19729" y="19729"/>
                  </a:cubicBezTo>
                  <a:cubicBezTo>
                    <a:pt x="32362" y="7097"/>
                    <a:pt x="49495" y="0"/>
                    <a:pt x="673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3461567" cy="3800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000000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Real-time streaming inference for live speech-to-confidence feedback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1082" y="522054"/>
            <a:ext cx="17093650" cy="9222735"/>
            <a:chOff x="0" y="0"/>
            <a:chExt cx="39256430" cy="211804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256432" cy="21180476"/>
            </a:xfrm>
            <a:custGeom>
              <a:avLst/>
              <a:gdLst/>
              <a:ahLst/>
              <a:cxnLst/>
              <a:rect r="r" b="b" t="t" l="l"/>
              <a:pathLst>
                <a:path h="21180476" w="39256432">
                  <a:moveTo>
                    <a:pt x="23099" y="0"/>
                  </a:moveTo>
                  <a:lnTo>
                    <a:pt x="39233332" y="0"/>
                  </a:lnTo>
                  <a:cubicBezTo>
                    <a:pt x="39239459" y="0"/>
                    <a:pt x="39245335" y="2434"/>
                    <a:pt x="39249666" y="6765"/>
                  </a:cubicBezTo>
                  <a:cubicBezTo>
                    <a:pt x="39253998" y="11097"/>
                    <a:pt x="39256432" y="16972"/>
                    <a:pt x="39256432" y="23099"/>
                  </a:cubicBezTo>
                  <a:lnTo>
                    <a:pt x="39256432" y="21157378"/>
                  </a:lnTo>
                  <a:cubicBezTo>
                    <a:pt x="39256432" y="21170134"/>
                    <a:pt x="39246091" y="21180476"/>
                    <a:pt x="39233332" y="21180476"/>
                  </a:cubicBezTo>
                  <a:lnTo>
                    <a:pt x="23099" y="21180476"/>
                  </a:lnTo>
                  <a:cubicBezTo>
                    <a:pt x="10342" y="21180476"/>
                    <a:pt x="0" y="21170134"/>
                    <a:pt x="0" y="21157378"/>
                  </a:cubicBezTo>
                  <a:lnTo>
                    <a:pt x="0" y="23099"/>
                  </a:lnTo>
                  <a:cubicBezTo>
                    <a:pt x="0" y="10342"/>
                    <a:pt x="10342" y="0"/>
                    <a:pt x="2309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39256430" cy="21170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986266" y="1431522"/>
            <a:ext cx="7118103" cy="80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769" b="true">
                <a:solidFill>
                  <a:srgbClr val="000000"/>
                </a:solidFill>
                <a:latin typeface="Anek Devanagari SemiExpanded Bold"/>
                <a:ea typeface="Anek Devanagari SemiExpanded Bold"/>
                <a:cs typeface="Anek Devanagari SemiExpanded Bold"/>
                <a:sym typeface="Anek Devanagari SemiExpanded Bold"/>
              </a:rPr>
              <a:t>Conclusion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840902"/>
            <a:ext cx="1118685" cy="961973"/>
            <a:chOff x="0" y="0"/>
            <a:chExt cx="2569117" cy="22092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9117" cy="2209219"/>
            </a:xfrm>
            <a:custGeom>
              <a:avLst/>
              <a:gdLst/>
              <a:ahLst/>
              <a:cxnLst/>
              <a:rect r="r" b="b" t="t" l="l"/>
              <a:pathLst>
                <a:path h="2209219" w="2569117">
                  <a:moveTo>
                    <a:pt x="138411" y="0"/>
                  </a:moveTo>
                  <a:lnTo>
                    <a:pt x="2430706" y="0"/>
                  </a:lnTo>
                  <a:cubicBezTo>
                    <a:pt x="2467415" y="0"/>
                    <a:pt x="2502620" y="14583"/>
                    <a:pt x="2528577" y="40540"/>
                  </a:cubicBezTo>
                  <a:cubicBezTo>
                    <a:pt x="2554534" y="66497"/>
                    <a:pt x="2569117" y="101702"/>
                    <a:pt x="2569117" y="138411"/>
                  </a:cubicBezTo>
                  <a:lnTo>
                    <a:pt x="2569117" y="2070808"/>
                  </a:lnTo>
                  <a:cubicBezTo>
                    <a:pt x="2569117" y="2107517"/>
                    <a:pt x="2554534" y="2142722"/>
                    <a:pt x="2528577" y="2168679"/>
                  </a:cubicBezTo>
                  <a:cubicBezTo>
                    <a:pt x="2502620" y="2194636"/>
                    <a:pt x="2467415" y="2209219"/>
                    <a:pt x="2430706" y="2209219"/>
                  </a:cubicBezTo>
                  <a:lnTo>
                    <a:pt x="138411" y="2209219"/>
                  </a:lnTo>
                  <a:cubicBezTo>
                    <a:pt x="101702" y="2209219"/>
                    <a:pt x="66497" y="2194636"/>
                    <a:pt x="40540" y="2168679"/>
                  </a:cubicBezTo>
                  <a:cubicBezTo>
                    <a:pt x="14583" y="2142722"/>
                    <a:pt x="0" y="2107517"/>
                    <a:pt x="0" y="2070808"/>
                  </a:cubicBezTo>
                  <a:lnTo>
                    <a:pt x="0" y="138411"/>
                  </a:lnTo>
                  <a:cubicBezTo>
                    <a:pt x="0" y="101702"/>
                    <a:pt x="14583" y="66497"/>
                    <a:pt x="40540" y="40540"/>
                  </a:cubicBezTo>
                  <a:cubicBezTo>
                    <a:pt x="66497" y="14583"/>
                    <a:pt x="101702" y="0"/>
                    <a:pt x="138411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2569117" cy="2285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5218"/>
                </a:lnSpc>
                <a:spcBef>
                  <a:spcPct val="0"/>
                </a:spcBef>
              </a:pPr>
              <a:r>
                <a:rPr lang="en-US" b="true" sz="3727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320758"/>
            <a:ext cx="1118685" cy="961973"/>
            <a:chOff x="0" y="0"/>
            <a:chExt cx="2569117" cy="22092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9117" cy="2209219"/>
            </a:xfrm>
            <a:custGeom>
              <a:avLst/>
              <a:gdLst/>
              <a:ahLst/>
              <a:cxnLst/>
              <a:rect r="r" b="b" t="t" l="l"/>
              <a:pathLst>
                <a:path h="2209219" w="2569117">
                  <a:moveTo>
                    <a:pt x="138411" y="0"/>
                  </a:moveTo>
                  <a:lnTo>
                    <a:pt x="2430706" y="0"/>
                  </a:lnTo>
                  <a:cubicBezTo>
                    <a:pt x="2467415" y="0"/>
                    <a:pt x="2502620" y="14583"/>
                    <a:pt x="2528577" y="40540"/>
                  </a:cubicBezTo>
                  <a:cubicBezTo>
                    <a:pt x="2554534" y="66497"/>
                    <a:pt x="2569117" y="101702"/>
                    <a:pt x="2569117" y="138411"/>
                  </a:cubicBezTo>
                  <a:lnTo>
                    <a:pt x="2569117" y="2070808"/>
                  </a:lnTo>
                  <a:cubicBezTo>
                    <a:pt x="2569117" y="2107517"/>
                    <a:pt x="2554534" y="2142722"/>
                    <a:pt x="2528577" y="2168679"/>
                  </a:cubicBezTo>
                  <a:cubicBezTo>
                    <a:pt x="2502620" y="2194636"/>
                    <a:pt x="2467415" y="2209219"/>
                    <a:pt x="2430706" y="2209219"/>
                  </a:cubicBezTo>
                  <a:lnTo>
                    <a:pt x="138411" y="2209219"/>
                  </a:lnTo>
                  <a:cubicBezTo>
                    <a:pt x="101702" y="2209219"/>
                    <a:pt x="66497" y="2194636"/>
                    <a:pt x="40540" y="2168679"/>
                  </a:cubicBezTo>
                  <a:cubicBezTo>
                    <a:pt x="14583" y="2142722"/>
                    <a:pt x="0" y="2107517"/>
                    <a:pt x="0" y="2070808"/>
                  </a:cubicBezTo>
                  <a:lnTo>
                    <a:pt x="0" y="138411"/>
                  </a:lnTo>
                  <a:cubicBezTo>
                    <a:pt x="0" y="101702"/>
                    <a:pt x="14583" y="66497"/>
                    <a:pt x="40540" y="40540"/>
                  </a:cubicBezTo>
                  <a:cubicBezTo>
                    <a:pt x="66497" y="14583"/>
                    <a:pt x="101702" y="0"/>
                    <a:pt x="138411" y="0"/>
                  </a:cubicBezTo>
                  <a:close/>
                </a:path>
              </a:pathLst>
            </a:custGeom>
            <a:solidFill>
              <a:srgbClr val="7F797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2569117" cy="2285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5218"/>
                </a:lnSpc>
                <a:spcBef>
                  <a:spcPct val="0"/>
                </a:spcBef>
              </a:pPr>
              <a:r>
                <a:rPr lang="en-US" b="true" sz="3727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B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797081"/>
            <a:ext cx="1118685" cy="961973"/>
            <a:chOff x="0" y="0"/>
            <a:chExt cx="2569117" cy="22092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9117" cy="2209219"/>
            </a:xfrm>
            <a:custGeom>
              <a:avLst/>
              <a:gdLst/>
              <a:ahLst/>
              <a:cxnLst/>
              <a:rect r="r" b="b" t="t" l="l"/>
              <a:pathLst>
                <a:path h="2209219" w="2569117">
                  <a:moveTo>
                    <a:pt x="138411" y="0"/>
                  </a:moveTo>
                  <a:lnTo>
                    <a:pt x="2430706" y="0"/>
                  </a:lnTo>
                  <a:cubicBezTo>
                    <a:pt x="2467415" y="0"/>
                    <a:pt x="2502620" y="14583"/>
                    <a:pt x="2528577" y="40540"/>
                  </a:cubicBezTo>
                  <a:cubicBezTo>
                    <a:pt x="2554534" y="66497"/>
                    <a:pt x="2569117" y="101702"/>
                    <a:pt x="2569117" y="138411"/>
                  </a:cubicBezTo>
                  <a:lnTo>
                    <a:pt x="2569117" y="2070808"/>
                  </a:lnTo>
                  <a:cubicBezTo>
                    <a:pt x="2569117" y="2107517"/>
                    <a:pt x="2554534" y="2142722"/>
                    <a:pt x="2528577" y="2168679"/>
                  </a:cubicBezTo>
                  <a:cubicBezTo>
                    <a:pt x="2502620" y="2194636"/>
                    <a:pt x="2467415" y="2209219"/>
                    <a:pt x="2430706" y="2209219"/>
                  </a:cubicBezTo>
                  <a:lnTo>
                    <a:pt x="138411" y="2209219"/>
                  </a:lnTo>
                  <a:cubicBezTo>
                    <a:pt x="101702" y="2209219"/>
                    <a:pt x="66497" y="2194636"/>
                    <a:pt x="40540" y="2168679"/>
                  </a:cubicBezTo>
                  <a:cubicBezTo>
                    <a:pt x="14583" y="2142722"/>
                    <a:pt x="0" y="2107517"/>
                    <a:pt x="0" y="2070808"/>
                  </a:cubicBezTo>
                  <a:lnTo>
                    <a:pt x="0" y="138411"/>
                  </a:lnTo>
                  <a:cubicBezTo>
                    <a:pt x="0" y="101702"/>
                    <a:pt x="14583" y="66497"/>
                    <a:pt x="40540" y="40540"/>
                  </a:cubicBezTo>
                  <a:cubicBezTo>
                    <a:pt x="66497" y="14583"/>
                    <a:pt x="101702" y="0"/>
                    <a:pt x="138411" y="0"/>
                  </a:cubicBezTo>
                  <a:close/>
                </a:path>
              </a:pathLst>
            </a:custGeom>
            <a:solidFill>
              <a:srgbClr val="A6D9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569117" cy="2285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5218"/>
                </a:lnSpc>
                <a:spcBef>
                  <a:spcPct val="0"/>
                </a:spcBef>
              </a:pPr>
              <a:r>
                <a:rPr lang="en-US" b="true" sz="3727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C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7391980"/>
            <a:ext cx="1118685" cy="961973"/>
            <a:chOff x="0" y="0"/>
            <a:chExt cx="2569117" cy="22092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9117" cy="2209219"/>
            </a:xfrm>
            <a:custGeom>
              <a:avLst/>
              <a:gdLst/>
              <a:ahLst/>
              <a:cxnLst/>
              <a:rect r="r" b="b" t="t" l="l"/>
              <a:pathLst>
                <a:path h="2209219" w="2569117">
                  <a:moveTo>
                    <a:pt x="138411" y="0"/>
                  </a:moveTo>
                  <a:lnTo>
                    <a:pt x="2430706" y="0"/>
                  </a:lnTo>
                  <a:cubicBezTo>
                    <a:pt x="2467415" y="0"/>
                    <a:pt x="2502620" y="14583"/>
                    <a:pt x="2528577" y="40540"/>
                  </a:cubicBezTo>
                  <a:cubicBezTo>
                    <a:pt x="2554534" y="66497"/>
                    <a:pt x="2569117" y="101702"/>
                    <a:pt x="2569117" y="138411"/>
                  </a:cubicBezTo>
                  <a:lnTo>
                    <a:pt x="2569117" y="2070808"/>
                  </a:lnTo>
                  <a:cubicBezTo>
                    <a:pt x="2569117" y="2107517"/>
                    <a:pt x="2554534" y="2142722"/>
                    <a:pt x="2528577" y="2168679"/>
                  </a:cubicBezTo>
                  <a:cubicBezTo>
                    <a:pt x="2502620" y="2194636"/>
                    <a:pt x="2467415" y="2209219"/>
                    <a:pt x="2430706" y="2209219"/>
                  </a:cubicBezTo>
                  <a:lnTo>
                    <a:pt x="138411" y="2209219"/>
                  </a:lnTo>
                  <a:cubicBezTo>
                    <a:pt x="101702" y="2209219"/>
                    <a:pt x="66497" y="2194636"/>
                    <a:pt x="40540" y="2168679"/>
                  </a:cubicBezTo>
                  <a:cubicBezTo>
                    <a:pt x="14583" y="2142722"/>
                    <a:pt x="0" y="2107517"/>
                    <a:pt x="0" y="2070808"/>
                  </a:cubicBezTo>
                  <a:lnTo>
                    <a:pt x="0" y="138411"/>
                  </a:lnTo>
                  <a:cubicBezTo>
                    <a:pt x="0" y="101702"/>
                    <a:pt x="14583" y="66497"/>
                    <a:pt x="40540" y="40540"/>
                  </a:cubicBezTo>
                  <a:cubicBezTo>
                    <a:pt x="66497" y="14583"/>
                    <a:pt x="101702" y="0"/>
                    <a:pt x="138411" y="0"/>
                  </a:cubicBezTo>
                  <a:close/>
                </a:path>
              </a:pathLst>
            </a:custGeom>
            <a:solidFill>
              <a:srgbClr val="73737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569117" cy="2285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5218"/>
                </a:lnSpc>
                <a:spcBef>
                  <a:spcPct val="0"/>
                </a:spcBef>
              </a:pPr>
              <a:r>
                <a:rPr lang="en-US" b="true" sz="3727">
                  <a:solidFill>
                    <a:srgbClr val="000000"/>
                  </a:solidFill>
                  <a:latin typeface="Anek Devanagari SemiExpanded Bold"/>
                  <a:ea typeface="Anek Devanagari SemiExpanded Bold"/>
                  <a:cs typeface="Anek Devanagari SemiExpanded Bold"/>
                  <a:sym typeface="Anek Devanagari SemiExpanded Bold"/>
                </a:rPr>
                <a:t>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591092" y="2808920"/>
            <a:ext cx="14163165" cy="1070459"/>
            <a:chOff x="0" y="0"/>
            <a:chExt cx="32526425" cy="24583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526424" cy="2458363"/>
            </a:xfrm>
            <a:custGeom>
              <a:avLst/>
              <a:gdLst/>
              <a:ahLst/>
              <a:cxnLst/>
              <a:rect r="r" b="b" t="t" l="l"/>
              <a:pathLst>
                <a:path h="2458363" w="32526424">
                  <a:moveTo>
                    <a:pt x="8746" y="0"/>
                  </a:moveTo>
                  <a:lnTo>
                    <a:pt x="32517677" y="0"/>
                  </a:lnTo>
                  <a:cubicBezTo>
                    <a:pt x="32519996" y="0"/>
                    <a:pt x="32522223" y="921"/>
                    <a:pt x="32523863" y="2562"/>
                  </a:cubicBezTo>
                  <a:cubicBezTo>
                    <a:pt x="32525503" y="4202"/>
                    <a:pt x="32526424" y="6426"/>
                    <a:pt x="32526424" y="8746"/>
                  </a:cubicBezTo>
                  <a:lnTo>
                    <a:pt x="32526424" y="2449617"/>
                  </a:lnTo>
                  <a:cubicBezTo>
                    <a:pt x="32526424" y="2454448"/>
                    <a:pt x="32522508" y="2458363"/>
                    <a:pt x="32517677" y="2458363"/>
                  </a:cubicBezTo>
                  <a:lnTo>
                    <a:pt x="8746" y="2458363"/>
                  </a:lnTo>
                  <a:cubicBezTo>
                    <a:pt x="6426" y="2458363"/>
                    <a:pt x="4202" y="2457442"/>
                    <a:pt x="2562" y="2455802"/>
                  </a:cubicBezTo>
                  <a:cubicBezTo>
                    <a:pt x="921" y="2454161"/>
                    <a:pt x="0" y="2451937"/>
                    <a:pt x="0" y="2449617"/>
                  </a:cubicBezTo>
                  <a:lnTo>
                    <a:pt x="0" y="8746"/>
                  </a:lnTo>
                  <a:cubicBezTo>
                    <a:pt x="0" y="3916"/>
                    <a:pt x="3916" y="0"/>
                    <a:pt x="874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2526425" cy="2477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Built an end-to-end NLP pipeline that predicts speaker confidence from raw text with 41.1% accuracy across 5 classes — a genuinely hard multi-class task.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591092" y="4320758"/>
            <a:ext cx="14163165" cy="1070459"/>
            <a:chOff x="0" y="0"/>
            <a:chExt cx="32526425" cy="24583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526424" cy="2458363"/>
            </a:xfrm>
            <a:custGeom>
              <a:avLst/>
              <a:gdLst/>
              <a:ahLst/>
              <a:cxnLst/>
              <a:rect r="r" b="b" t="t" l="l"/>
              <a:pathLst>
                <a:path h="2458363" w="32526424">
                  <a:moveTo>
                    <a:pt x="8746" y="0"/>
                  </a:moveTo>
                  <a:lnTo>
                    <a:pt x="32517677" y="0"/>
                  </a:lnTo>
                  <a:cubicBezTo>
                    <a:pt x="32519996" y="0"/>
                    <a:pt x="32522223" y="921"/>
                    <a:pt x="32523863" y="2562"/>
                  </a:cubicBezTo>
                  <a:cubicBezTo>
                    <a:pt x="32525503" y="4202"/>
                    <a:pt x="32526424" y="6426"/>
                    <a:pt x="32526424" y="8746"/>
                  </a:cubicBezTo>
                  <a:lnTo>
                    <a:pt x="32526424" y="2449617"/>
                  </a:lnTo>
                  <a:cubicBezTo>
                    <a:pt x="32526424" y="2454448"/>
                    <a:pt x="32522508" y="2458363"/>
                    <a:pt x="32517677" y="2458363"/>
                  </a:cubicBezTo>
                  <a:lnTo>
                    <a:pt x="8746" y="2458363"/>
                  </a:lnTo>
                  <a:cubicBezTo>
                    <a:pt x="6426" y="2458363"/>
                    <a:pt x="4202" y="2457442"/>
                    <a:pt x="2562" y="2455802"/>
                  </a:cubicBezTo>
                  <a:cubicBezTo>
                    <a:pt x="921" y="2454161"/>
                    <a:pt x="0" y="2451937"/>
                    <a:pt x="0" y="2449617"/>
                  </a:cubicBezTo>
                  <a:lnTo>
                    <a:pt x="0" y="8746"/>
                  </a:lnTo>
                  <a:cubicBezTo>
                    <a:pt x="0" y="3916"/>
                    <a:pt x="3916" y="0"/>
                    <a:pt x="874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2526425" cy="2477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Designed a novel hybrid scorer (55% ML + 45% rule-based lexicon) that achieves 92.5% direction agreement with human raters and runs in &lt;1 ms.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591092" y="5829367"/>
            <a:ext cx="14163165" cy="1070459"/>
            <a:chOff x="0" y="0"/>
            <a:chExt cx="32526425" cy="24583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526424" cy="2458363"/>
            </a:xfrm>
            <a:custGeom>
              <a:avLst/>
              <a:gdLst/>
              <a:ahLst/>
              <a:cxnLst/>
              <a:rect r="r" b="b" t="t" l="l"/>
              <a:pathLst>
                <a:path h="2458363" w="32526424">
                  <a:moveTo>
                    <a:pt x="8746" y="0"/>
                  </a:moveTo>
                  <a:lnTo>
                    <a:pt x="32517677" y="0"/>
                  </a:lnTo>
                  <a:cubicBezTo>
                    <a:pt x="32519996" y="0"/>
                    <a:pt x="32522223" y="921"/>
                    <a:pt x="32523863" y="2562"/>
                  </a:cubicBezTo>
                  <a:cubicBezTo>
                    <a:pt x="32525503" y="4202"/>
                    <a:pt x="32526424" y="6426"/>
                    <a:pt x="32526424" y="8746"/>
                  </a:cubicBezTo>
                  <a:lnTo>
                    <a:pt x="32526424" y="2449617"/>
                  </a:lnTo>
                  <a:cubicBezTo>
                    <a:pt x="32526424" y="2454448"/>
                    <a:pt x="32522508" y="2458363"/>
                    <a:pt x="32517677" y="2458363"/>
                  </a:cubicBezTo>
                  <a:lnTo>
                    <a:pt x="8746" y="2458363"/>
                  </a:lnTo>
                  <a:cubicBezTo>
                    <a:pt x="6426" y="2458363"/>
                    <a:pt x="4202" y="2457442"/>
                    <a:pt x="2562" y="2455802"/>
                  </a:cubicBezTo>
                  <a:cubicBezTo>
                    <a:pt x="921" y="2454161"/>
                    <a:pt x="0" y="2451937"/>
                    <a:pt x="0" y="2449617"/>
                  </a:cubicBezTo>
                  <a:lnTo>
                    <a:pt x="0" y="8746"/>
                  </a:lnTo>
                  <a:cubicBezTo>
                    <a:pt x="0" y="3916"/>
                    <a:pt x="3916" y="0"/>
                    <a:pt x="874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2526425" cy="2477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alidated through a rigorous 30-way embedding × classifier sweep; chose TF-IDF + Gradient Boosting for the best accuracy-to-latency trade-off.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591092" y="7391980"/>
            <a:ext cx="14163165" cy="1070459"/>
            <a:chOff x="0" y="0"/>
            <a:chExt cx="32526425" cy="24583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526424" cy="2458363"/>
            </a:xfrm>
            <a:custGeom>
              <a:avLst/>
              <a:gdLst/>
              <a:ahLst/>
              <a:cxnLst/>
              <a:rect r="r" b="b" t="t" l="l"/>
              <a:pathLst>
                <a:path h="2458363" w="32526424">
                  <a:moveTo>
                    <a:pt x="8746" y="0"/>
                  </a:moveTo>
                  <a:lnTo>
                    <a:pt x="32517677" y="0"/>
                  </a:lnTo>
                  <a:cubicBezTo>
                    <a:pt x="32519996" y="0"/>
                    <a:pt x="32522223" y="921"/>
                    <a:pt x="32523863" y="2562"/>
                  </a:cubicBezTo>
                  <a:cubicBezTo>
                    <a:pt x="32525503" y="4202"/>
                    <a:pt x="32526424" y="6426"/>
                    <a:pt x="32526424" y="8746"/>
                  </a:cubicBezTo>
                  <a:lnTo>
                    <a:pt x="32526424" y="2449617"/>
                  </a:lnTo>
                  <a:cubicBezTo>
                    <a:pt x="32526424" y="2454448"/>
                    <a:pt x="32522508" y="2458363"/>
                    <a:pt x="32517677" y="2458363"/>
                  </a:cubicBezTo>
                  <a:lnTo>
                    <a:pt x="8746" y="2458363"/>
                  </a:lnTo>
                  <a:cubicBezTo>
                    <a:pt x="6426" y="2458363"/>
                    <a:pt x="4202" y="2457442"/>
                    <a:pt x="2562" y="2455802"/>
                  </a:cubicBezTo>
                  <a:cubicBezTo>
                    <a:pt x="921" y="2454161"/>
                    <a:pt x="0" y="2451937"/>
                    <a:pt x="0" y="2449617"/>
                  </a:cubicBezTo>
                  <a:lnTo>
                    <a:pt x="0" y="8746"/>
                  </a:lnTo>
                  <a:cubicBezTo>
                    <a:pt x="0" y="3916"/>
                    <a:pt x="3916" y="0"/>
                    <a:pt x="8746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2526425" cy="2477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Delivered a polished production-grade web app (Next.js + FastAPI) with animated gauge, live charts, PDF export, dark mode, and per-word highlighting.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C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30431" y="843116"/>
            <a:ext cx="12755527" cy="8007885"/>
            <a:chOff x="0" y="0"/>
            <a:chExt cx="29293713" cy="183905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93713" cy="18390512"/>
            </a:xfrm>
            <a:custGeom>
              <a:avLst/>
              <a:gdLst/>
              <a:ahLst/>
              <a:cxnLst/>
              <a:rect r="r" b="b" t="t" l="l"/>
              <a:pathLst>
                <a:path h="18390512" w="29293713">
                  <a:moveTo>
                    <a:pt x="30954" y="0"/>
                  </a:moveTo>
                  <a:lnTo>
                    <a:pt x="29262760" y="0"/>
                  </a:lnTo>
                  <a:cubicBezTo>
                    <a:pt x="29279853" y="0"/>
                    <a:pt x="29293713" y="13859"/>
                    <a:pt x="29293713" y="30954"/>
                  </a:cubicBezTo>
                  <a:lnTo>
                    <a:pt x="29293713" y="18359557"/>
                  </a:lnTo>
                  <a:cubicBezTo>
                    <a:pt x="29293713" y="18367767"/>
                    <a:pt x="29290451" y="18375640"/>
                    <a:pt x="29284647" y="18381445"/>
                  </a:cubicBezTo>
                  <a:cubicBezTo>
                    <a:pt x="29278842" y="18387250"/>
                    <a:pt x="29270967" y="18390512"/>
                    <a:pt x="29262760" y="18390512"/>
                  </a:cubicBezTo>
                  <a:lnTo>
                    <a:pt x="30954" y="18390512"/>
                  </a:lnTo>
                  <a:cubicBezTo>
                    <a:pt x="22745" y="18390512"/>
                    <a:pt x="14871" y="18387250"/>
                    <a:pt x="9066" y="18381445"/>
                  </a:cubicBezTo>
                  <a:cubicBezTo>
                    <a:pt x="3261" y="18375640"/>
                    <a:pt x="0" y="18367767"/>
                    <a:pt x="0" y="18359557"/>
                  </a:cubicBezTo>
                  <a:lnTo>
                    <a:pt x="0" y="30954"/>
                  </a:lnTo>
                  <a:cubicBezTo>
                    <a:pt x="0" y="22745"/>
                    <a:pt x="3261" y="14871"/>
                    <a:pt x="9066" y="9066"/>
                  </a:cubicBezTo>
                  <a:cubicBezTo>
                    <a:pt x="14871" y="3261"/>
                    <a:pt x="22745" y="0"/>
                    <a:pt x="309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9293713" cy="18380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70713" y="3162761"/>
            <a:ext cx="5038392" cy="5238404"/>
            <a:chOff x="0" y="0"/>
            <a:chExt cx="6717856" cy="69845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17856" cy="6984539"/>
            </a:xfrm>
            <a:custGeom>
              <a:avLst/>
              <a:gdLst/>
              <a:ahLst/>
              <a:cxnLst/>
              <a:rect r="r" b="b" t="t" l="l"/>
              <a:pathLst>
                <a:path h="6984539" w="6717856">
                  <a:moveTo>
                    <a:pt x="0" y="0"/>
                  </a:moveTo>
                  <a:lnTo>
                    <a:pt x="6717856" y="0"/>
                  </a:lnTo>
                  <a:lnTo>
                    <a:pt x="6717856" y="6984539"/>
                  </a:lnTo>
                  <a:lnTo>
                    <a:pt x="0" y="6984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6596" y="4543467"/>
              <a:ext cx="1190830" cy="1519621"/>
            </a:xfrm>
            <a:custGeom>
              <a:avLst/>
              <a:gdLst/>
              <a:ahLst/>
              <a:cxnLst/>
              <a:rect r="r" b="b" t="t" l="l"/>
              <a:pathLst>
                <a:path h="1519621" w="1190830">
                  <a:moveTo>
                    <a:pt x="0" y="0"/>
                  </a:moveTo>
                  <a:lnTo>
                    <a:pt x="1190830" y="0"/>
                  </a:lnTo>
                  <a:lnTo>
                    <a:pt x="1190830" y="1519621"/>
                  </a:lnTo>
                  <a:lnTo>
                    <a:pt x="0" y="1519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61439" y="1379227"/>
            <a:ext cx="4893904" cy="4128675"/>
          </a:xfrm>
          <a:custGeom>
            <a:avLst/>
            <a:gdLst/>
            <a:ahLst/>
            <a:cxnLst/>
            <a:rect r="r" b="b" t="t" l="l"/>
            <a:pathLst>
              <a:path h="4128675" w="4893904">
                <a:moveTo>
                  <a:pt x="0" y="0"/>
                </a:moveTo>
                <a:lnTo>
                  <a:pt x="4893904" y="0"/>
                </a:lnTo>
                <a:lnTo>
                  <a:pt x="4893904" y="4128675"/>
                </a:lnTo>
                <a:lnTo>
                  <a:pt x="0" y="41286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40082" y="571208"/>
            <a:ext cx="1249827" cy="2095746"/>
          </a:xfrm>
          <a:custGeom>
            <a:avLst/>
            <a:gdLst/>
            <a:ahLst/>
            <a:cxnLst/>
            <a:rect r="r" b="b" t="t" l="l"/>
            <a:pathLst>
              <a:path h="2095746" w="1249827">
                <a:moveTo>
                  <a:pt x="0" y="0"/>
                </a:moveTo>
                <a:lnTo>
                  <a:pt x="1249827" y="0"/>
                </a:lnTo>
                <a:lnTo>
                  <a:pt x="1249827" y="2095746"/>
                </a:lnTo>
                <a:lnTo>
                  <a:pt x="0" y="2095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838990" y="731764"/>
            <a:ext cx="421617" cy="42161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195658" y="3665849"/>
            <a:ext cx="5896684" cy="147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89"/>
              </a:lnSpc>
            </a:pPr>
            <a:r>
              <a:rPr lang="en-US" b="true" sz="8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DAHJ6p794vw</dc:identifier>
  <dcterms:modified xsi:type="dcterms:W3CDTF">2011-08-01T06:04:30Z</dcterms:modified>
  <cp:revision>1</cp:revision>
  <dc:title>Speaker Confidence Assesment test</dc:title>
</cp:coreProperties>
</file>